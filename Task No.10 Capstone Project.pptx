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5" r:id="rId6"/>
    <p:sldId id="262" r:id="rId7"/>
    <p:sldId id="257" r:id="rId8"/>
    <p:sldId id="267" r:id="rId9"/>
    <p:sldId id="268" r:id="rId10"/>
    <p:sldId id="264" r:id="rId11"/>
    <p:sldId id="258" r:id="rId12"/>
    <p:sldId id="270" r:id="rId13"/>
    <p:sldId id="271" r:id="rId14"/>
    <p:sldId id="273" r:id="rId15"/>
    <p:sldId id="274" r:id="rId16"/>
    <p:sldId id="275" r:id="rId17"/>
    <p:sldId id="284" r:id="rId18"/>
    <p:sldId id="269" r:id="rId19"/>
    <p:sldId id="277" r:id="rId20"/>
    <p:sldId id="278" r:id="rId21"/>
    <p:sldId id="279" r:id="rId22"/>
    <p:sldId id="260" r:id="rId23"/>
    <p:sldId id="261" r:id="rId24"/>
    <p:sldId id="281" r:id="rId25"/>
    <p:sldId id="280" r:id="rId26"/>
    <p:sldId id="282" r:id="rId27"/>
    <p:sldId id="2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 Type="http://schemas.openxmlformats.org/officeDocument/2006/relationships/customXml" Target="../customXml/item3.xml" /><Relationship Id="rId21" Type="http://schemas.openxmlformats.org/officeDocument/2006/relationships/slide" Target="slides/slide17.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presProps" Target="presProp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tableStyles" Target="tableStyles.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theme" Target="theme/theme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F4C7-5BD5-D227-5E62-5BA8094CF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9C086F-FFA3-A7A5-C2BF-591C616B5F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197856-B90D-1F18-22A0-27FFC82EE6FB}"/>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5" name="Footer Placeholder 4">
            <a:extLst>
              <a:ext uri="{FF2B5EF4-FFF2-40B4-BE49-F238E27FC236}">
                <a16:creationId xmlns:a16="http://schemas.microsoft.com/office/drawing/2014/main" id="{C951194E-EF32-4E1D-AA83-E4B5C436F9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C14E2B-5EA5-FB2A-56F3-9B57D16F21AE}"/>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56711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89A0B-E7AF-2C55-6C58-74BD310A6A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951EC5-108A-73F7-3FA7-08BAFA41A8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536E20-1936-93C5-CCAD-7860B626991D}"/>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5" name="Footer Placeholder 4">
            <a:extLst>
              <a:ext uri="{FF2B5EF4-FFF2-40B4-BE49-F238E27FC236}">
                <a16:creationId xmlns:a16="http://schemas.microsoft.com/office/drawing/2014/main" id="{A556C959-1A49-94C8-37CE-5EDF3F7673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26A2C0-B25D-6195-0FA6-8386BADA733D}"/>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1454779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FED7C-83DE-6375-378D-BDEFEA2EA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6D6835-74B7-B110-71D3-0B67ED230D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218FED-79B8-0170-A024-8A3A81EA37DA}"/>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5" name="Footer Placeholder 4">
            <a:extLst>
              <a:ext uri="{FF2B5EF4-FFF2-40B4-BE49-F238E27FC236}">
                <a16:creationId xmlns:a16="http://schemas.microsoft.com/office/drawing/2014/main" id="{229B6125-717E-82FE-0C17-63F6663465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1CAC14-DA8E-1690-8B4B-E8243295B1D6}"/>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452470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9CB64-D968-2919-9C21-9095DD8753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1800C4-09DC-1DF6-A7D0-F59C3FF126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8216C5-3904-26E0-D231-97F6B83113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4D6BE7-B4A5-86C5-8C5C-70360CA4C10A}"/>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6" name="Footer Placeholder 5">
            <a:extLst>
              <a:ext uri="{FF2B5EF4-FFF2-40B4-BE49-F238E27FC236}">
                <a16:creationId xmlns:a16="http://schemas.microsoft.com/office/drawing/2014/main" id="{5129E57B-28D6-1601-1F4C-5DEAE4433D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4829CB-7EDF-2B7D-9B51-9A37D28E3852}"/>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810075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F7E1B-6EF0-B169-E304-8C67C94DD3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AF12F2-FB9E-8A26-2012-A79FB1E1CA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D6499E-8EB4-D260-B5B8-2CE5BAE97C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EA8278-7F71-A370-71D9-28B166B28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00B544-18FE-1FF2-7B1A-86F96C2228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63F5DF-20C8-3276-3033-9DC8B1EE9F14}"/>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8" name="Footer Placeholder 7">
            <a:extLst>
              <a:ext uri="{FF2B5EF4-FFF2-40B4-BE49-F238E27FC236}">
                <a16:creationId xmlns:a16="http://schemas.microsoft.com/office/drawing/2014/main" id="{5246FF99-F1D2-ABF0-0B08-48EEAB4F07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A461A5-7642-577D-5ADF-5A64ABBA49D2}"/>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1376974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B47CD-8014-74E8-94DC-9FBDF6996B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187134-9363-220C-FF46-7CCB3BE232BF}"/>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4" name="Footer Placeholder 3">
            <a:extLst>
              <a:ext uri="{FF2B5EF4-FFF2-40B4-BE49-F238E27FC236}">
                <a16:creationId xmlns:a16="http://schemas.microsoft.com/office/drawing/2014/main" id="{B22F5C61-8C7F-0B80-B307-EE3FB56E6D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5EDAC1-F569-281F-9D14-73D0CC5E8EF6}"/>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897176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360547-1A9D-4307-92CE-265624AA6027}"/>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3" name="Footer Placeholder 2">
            <a:extLst>
              <a:ext uri="{FF2B5EF4-FFF2-40B4-BE49-F238E27FC236}">
                <a16:creationId xmlns:a16="http://schemas.microsoft.com/office/drawing/2014/main" id="{E83BDA03-7A69-4AB7-14A1-AA6027B2D8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28D90C-1A0A-FFD4-F409-C8AD0E9E5427}"/>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1254754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F8538-8AE5-2A2A-0479-B787542BC6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0FB1E4-6CAE-3704-C709-95D75928D9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0FBABD3-B3B0-BE62-1E55-8106ECF92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4BCBDC-0FAD-2FC1-6AF9-558D1F38C58D}"/>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6" name="Footer Placeholder 5">
            <a:extLst>
              <a:ext uri="{FF2B5EF4-FFF2-40B4-BE49-F238E27FC236}">
                <a16:creationId xmlns:a16="http://schemas.microsoft.com/office/drawing/2014/main" id="{06F035FF-9FB7-C754-4419-F35DA44751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350185-C1FC-3ACF-E41A-796A3B6BEE2F}"/>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188680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4875C-8775-3AEE-6CC1-94FD729CC8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874510-6769-9F3E-1AE9-53917F8378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55C8E2A-05F2-C045-9AA4-B3DACAFFCB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3695FA-6124-B53A-F94A-41EF259AB6A2}"/>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6" name="Footer Placeholder 5">
            <a:extLst>
              <a:ext uri="{FF2B5EF4-FFF2-40B4-BE49-F238E27FC236}">
                <a16:creationId xmlns:a16="http://schemas.microsoft.com/office/drawing/2014/main" id="{1BA130E8-E5DF-252F-62DA-BF04A15948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70A042-0832-10E9-4889-62145C3FA988}"/>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367535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F085-9C28-F3EA-530E-D1C8820961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E74438-E091-7D27-7861-C8754B6E2E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6D99DB-32AE-9CC2-895C-C04E9B912CF2}"/>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5" name="Footer Placeholder 4">
            <a:extLst>
              <a:ext uri="{FF2B5EF4-FFF2-40B4-BE49-F238E27FC236}">
                <a16:creationId xmlns:a16="http://schemas.microsoft.com/office/drawing/2014/main" id="{3C1F3F3B-19E7-F8B9-C5E5-8A33F5983D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DBD62B-D580-47CB-C94F-E7105E2EF4F8}"/>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2741597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C5E123-41D8-B1AB-DC9E-D3379658B7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7D90D0-3219-E375-8B50-352DC9185D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C8FA95-9D00-A5F7-B415-D9948497D231}"/>
              </a:ext>
            </a:extLst>
          </p:cNvPr>
          <p:cNvSpPr>
            <a:spLocks noGrp="1"/>
          </p:cNvSpPr>
          <p:nvPr>
            <p:ph type="dt" sz="half" idx="10"/>
          </p:nvPr>
        </p:nvSpPr>
        <p:spPr/>
        <p:txBody>
          <a:bodyPr/>
          <a:lstStyle/>
          <a:p>
            <a:fld id="{AFDE425B-4E98-4B49-AE39-0E66B6C141A6}" type="datetimeFigureOut">
              <a:rPr lang="en-IN" smtClean="0"/>
              <a:t>11-03-2026</a:t>
            </a:fld>
            <a:endParaRPr lang="en-IN"/>
          </a:p>
        </p:txBody>
      </p:sp>
      <p:sp>
        <p:nvSpPr>
          <p:cNvPr id="5" name="Footer Placeholder 4">
            <a:extLst>
              <a:ext uri="{FF2B5EF4-FFF2-40B4-BE49-F238E27FC236}">
                <a16:creationId xmlns:a16="http://schemas.microsoft.com/office/drawing/2014/main" id="{45236BC0-9D34-DE0F-D6C4-AF22D66F14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4BA420-4788-981C-3603-7E60B89DC5F4}"/>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648357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52C2BF-DAED-98A9-45B2-122B8520A8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97D85-E16D-DD64-BD75-6B04869D09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10BF59-C816-AD55-FEFF-ED66976843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DE425B-4E98-4B49-AE39-0E66B6C141A6}" type="datetimeFigureOut">
              <a:rPr lang="en-IN" smtClean="0"/>
              <a:t>11-03-2026</a:t>
            </a:fld>
            <a:endParaRPr lang="en-IN"/>
          </a:p>
        </p:txBody>
      </p:sp>
      <p:sp>
        <p:nvSpPr>
          <p:cNvPr id="5" name="Footer Placeholder 4">
            <a:extLst>
              <a:ext uri="{FF2B5EF4-FFF2-40B4-BE49-F238E27FC236}">
                <a16:creationId xmlns:a16="http://schemas.microsoft.com/office/drawing/2014/main" id="{7F571E41-D7C8-F9D9-D86B-32ADF0A91E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DFA7BF8-25B8-E58C-C8A8-A24ED7514A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82A4F9-0FC9-4BE1-B320-B35B8841E6ED}" type="slidenum">
              <a:rPr lang="en-IN" smtClean="0"/>
              <a:t>‹#›</a:t>
            </a:fld>
            <a:endParaRPr lang="en-IN"/>
          </a:p>
        </p:txBody>
      </p:sp>
    </p:spTree>
    <p:extLst>
      <p:ext uri="{BB962C8B-B14F-4D97-AF65-F5344CB8AC3E}">
        <p14:creationId xmlns:p14="http://schemas.microsoft.com/office/powerpoint/2010/main" val="2718129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hyperlink" Target="https://forms.cloud.microsoft/r/d1SvV3t1SL" TargetMode="External" /><Relationship Id="rId2" Type="http://schemas.openxmlformats.org/officeDocument/2006/relationships/hyperlink" Target="https://forms.cloud.microsoft/r/P9Ddk55Tnn" TargetMode="Externa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hyperlink" Target="https://forms.office.com/Pages/ResponsePage.aspx?id=xVArZJ3cv0Gm9dTrOxkl3EuoyUdinGdKkS6sgnibGQtUM0YwR0pJU08yTzdTVVBETEdIMERSRzk3Vi4u" TargetMode="Externa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A4FA82F-4241-1011-08F4-1FFED7506C22}"/>
              </a:ext>
            </a:extLst>
          </p:cNvPr>
          <p:cNvPicPr>
            <a:picLocks noChangeAspect="1"/>
          </p:cNvPicPr>
          <p:nvPr/>
        </p:nvPicPr>
        <p:blipFill>
          <a:blip r:embed="rId2">
            <a:alphaModFix amt="50000"/>
          </a:blip>
          <a:srcRect l="3135" r="1" b="1"/>
          <a:stretch>
            <a:fillRect/>
          </a:stretch>
        </p:blipFill>
        <p:spPr>
          <a:xfrm>
            <a:off x="20" y="11733"/>
            <a:ext cx="12188931" cy="6857990"/>
          </a:xfrm>
          <a:prstGeom prst="rect">
            <a:avLst/>
          </a:prstGeom>
        </p:spPr>
      </p:pic>
      <p:sp>
        <p:nvSpPr>
          <p:cNvPr id="7" name="TextBox 6">
            <a:extLst>
              <a:ext uri="{FF2B5EF4-FFF2-40B4-BE49-F238E27FC236}">
                <a16:creationId xmlns:a16="http://schemas.microsoft.com/office/drawing/2014/main" id="{3C1B628B-C53B-A865-D6ED-01A49E340B6C}"/>
              </a:ext>
            </a:extLst>
          </p:cNvPr>
          <p:cNvSpPr txBox="1"/>
          <p:nvPr/>
        </p:nvSpPr>
        <p:spPr>
          <a:xfrm>
            <a:off x="1527048" y="1124712"/>
            <a:ext cx="9144000" cy="1644748"/>
          </a:xfrm>
          <a:prstGeom prst="rect">
            <a:avLst/>
          </a:prstGeom>
        </p:spPr>
        <p:txBody>
          <a:bodyPr vert="horz" lIns="91440" tIns="45720" rIns="91440" bIns="45720" rtlCol="0" anchor="b">
            <a:normAutofit fontScale="92500" lnSpcReduction="10000"/>
          </a:bodyPr>
          <a:lstStyle/>
          <a:p>
            <a:pPr algn="ctr">
              <a:lnSpc>
                <a:spcPct val="90000"/>
              </a:lnSpc>
              <a:spcBef>
                <a:spcPct val="0"/>
              </a:spcBef>
              <a:spcAft>
                <a:spcPts val="600"/>
              </a:spcAft>
            </a:pPr>
            <a:r>
              <a:rPr lang="en-US" sz="6600" b="1">
                <a:solidFill>
                  <a:schemeClr val="bg1"/>
                </a:solidFill>
                <a:latin typeface="+mj-lt"/>
                <a:ea typeface="+mj-ea"/>
                <a:cs typeface="+mj-cs"/>
              </a:rPr>
              <a:t>DT BASED CAPSTONE PROJECT-</a:t>
            </a:r>
          </a:p>
        </p:txBody>
      </p:sp>
      <p:sp>
        <p:nvSpPr>
          <p:cNvPr id="3" name="Subtitle 2">
            <a:extLst>
              <a:ext uri="{FF2B5EF4-FFF2-40B4-BE49-F238E27FC236}">
                <a16:creationId xmlns:a16="http://schemas.microsoft.com/office/drawing/2014/main" id="{0038052C-708A-4CBF-6293-C36F41864F20}"/>
              </a:ext>
            </a:extLst>
          </p:cNvPr>
          <p:cNvSpPr>
            <a:spLocks noGrp="1"/>
          </p:cNvSpPr>
          <p:nvPr>
            <p:ph type="subTitle" idx="1"/>
          </p:nvPr>
        </p:nvSpPr>
        <p:spPr>
          <a:xfrm>
            <a:off x="1527048" y="3849156"/>
            <a:ext cx="9144000" cy="1461981"/>
          </a:xfrm>
        </p:spPr>
        <p:txBody>
          <a:bodyPr vert="horz" lIns="91440" tIns="45720" rIns="91440" bIns="45720" rtlCol="0" anchor="t">
            <a:noAutofit/>
          </a:bodyPr>
          <a:lstStyle/>
          <a:p>
            <a:r>
              <a:rPr lang="en-US" sz="3200" b="1">
                <a:solidFill>
                  <a:schemeClr val="bg1"/>
                </a:solidFill>
              </a:rPr>
              <a:t>Academic Problem- </a:t>
            </a:r>
          </a:p>
          <a:p>
            <a:r>
              <a:rPr lang="en-US" sz="3200">
                <a:solidFill>
                  <a:schemeClr val="bg1"/>
                </a:solidFill>
              </a:rPr>
              <a:t>Leveraging Complex Diagrams in Science Using AI and AR Infused with Design Thinking</a:t>
            </a:r>
          </a:p>
          <a:p>
            <a:r>
              <a:rPr lang="en-US" sz="3200" b="1">
                <a:solidFill>
                  <a:schemeClr val="bg1"/>
                </a:solidFill>
              </a:rPr>
              <a:t>Target Group- </a:t>
            </a:r>
            <a:r>
              <a:rPr lang="en-US" sz="3200">
                <a:solidFill>
                  <a:schemeClr val="bg1"/>
                </a:solidFill>
              </a:rPr>
              <a:t>Std X</a:t>
            </a:r>
          </a:p>
        </p:txBody>
      </p:sp>
      <p:sp>
        <p:nvSpPr>
          <p:cNvPr id="29"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0651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ECBAA-8052-1801-2F4A-592E8F070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84399-1F5A-BA5F-A34A-27F659E88287}"/>
              </a:ext>
            </a:extLst>
          </p:cNvPr>
          <p:cNvSpPr>
            <a:spLocks noGrp="1"/>
          </p:cNvSpPr>
          <p:nvPr>
            <p:ph type="ctrTitle"/>
          </p:nvPr>
        </p:nvSpPr>
        <p:spPr>
          <a:xfrm>
            <a:off x="1524000" y="991734"/>
            <a:ext cx="7332870" cy="1033008"/>
          </a:xfrm>
        </p:spPr>
        <p:txBody>
          <a:bodyPr>
            <a:normAutofit/>
          </a:bodyPr>
          <a:lstStyle/>
          <a:p>
            <a:r>
              <a:rPr lang="en-US" b="1"/>
              <a:t>SCOPE</a:t>
            </a:r>
            <a:endParaRPr lang="en-IN" b="1"/>
          </a:p>
        </p:txBody>
      </p:sp>
      <p:sp>
        <p:nvSpPr>
          <p:cNvPr id="3" name="Subtitle 2">
            <a:extLst>
              <a:ext uri="{FF2B5EF4-FFF2-40B4-BE49-F238E27FC236}">
                <a16:creationId xmlns:a16="http://schemas.microsoft.com/office/drawing/2014/main" id="{9D5C083C-9759-5534-041B-8001249623F2}"/>
              </a:ext>
            </a:extLst>
          </p:cNvPr>
          <p:cNvSpPr>
            <a:spLocks noGrp="1"/>
          </p:cNvSpPr>
          <p:nvPr>
            <p:ph type="subTitle" idx="1"/>
          </p:nvPr>
        </p:nvSpPr>
        <p:spPr>
          <a:xfrm>
            <a:off x="0" y="2155371"/>
            <a:ext cx="12192000" cy="4613274"/>
          </a:xfrm>
        </p:spPr>
        <p:txBody>
          <a:bodyPr>
            <a:normAutofit/>
          </a:bodyPr>
          <a:lstStyle/>
          <a:p>
            <a:pPr algn="l"/>
            <a:r>
              <a:rPr lang="en-US" sz="4000" b="1"/>
              <a:t>Stage I – </a:t>
            </a:r>
            <a:r>
              <a:rPr lang="en-US" sz="4000"/>
              <a:t>Brainstorming (Tool)</a:t>
            </a:r>
          </a:p>
          <a:p>
            <a:pPr algn="l"/>
            <a:r>
              <a:rPr lang="en-US" sz="4000" b="1"/>
              <a:t>Activity: </a:t>
            </a:r>
            <a:r>
              <a:rPr lang="en-US" sz="4000"/>
              <a:t>Group discussion and brainstorming</a:t>
            </a:r>
          </a:p>
          <a:p>
            <a:endParaRPr lang="en-US" sz="4000" b="1"/>
          </a:p>
          <a:p>
            <a:pPr algn="l"/>
            <a:r>
              <a:rPr lang="en-US" sz="4000" b="1"/>
              <a:t>Key Questions-</a:t>
            </a:r>
          </a:p>
          <a:p>
            <a:pPr algn="l"/>
            <a:r>
              <a:rPr lang="en-US" sz="3000"/>
              <a:t>Which science diagrams are most difficult for students to understand?</a:t>
            </a:r>
          </a:p>
          <a:p>
            <a:pPr algn="l"/>
            <a:r>
              <a:rPr lang="en-US" sz="3000"/>
              <a:t>Why do students struggle with textbook diagrams?</a:t>
            </a:r>
          </a:p>
          <a:p>
            <a:pPr algn="l"/>
            <a:r>
              <a:rPr lang="en-US" sz="3000"/>
              <a:t>Can technology help visualize scientific processes better?</a:t>
            </a:r>
          </a:p>
          <a:p>
            <a:endParaRPr lang="en-US" sz="4000"/>
          </a:p>
        </p:txBody>
      </p:sp>
      <p:sp>
        <p:nvSpPr>
          <p:cNvPr id="4" name="Title 1">
            <a:extLst>
              <a:ext uri="{FF2B5EF4-FFF2-40B4-BE49-F238E27FC236}">
                <a16:creationId xmlns:a16="http://schemas.microsoft.com/office/drawing/2014/main" id="{A4A16CD4-D211-22D7-8692-E1AB3A851BEA}"/>
              </a:ext>
            </a:extLst>
          </p:cNvPr>
          <p:cNvSpPr txBox="1">
            <a:spLocks/>
          </p:cNvSpPr>
          <p:nvPr/>
        </p:nvSpPr>
        <p:spPr>
          <a:xfrm>
            <a:off x="8469085" y="89355"/>
            <a:ext cx="3581402" cy="10330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t>Phase 1</a:t>
            </a:r>
            <a:endParaRPr lang="en-IN" b="1"/>
          </a:p>
        </p:txBody>
      </p:sp>
    </p:spTree>
    <p:extLst>
      <p:ext uri="{BB962C8B-B14F-4D97-AF65-F5344CB8AC3E}">
        <p14:creationId xmlns:p14="http://schemas.microsoft.com/office/powerpoint/2010/main" val="207289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1232A4-F76E-F56B-1111-4EA0637F12DB}"/>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3400" b="1" kern="1200">
                <a:solidFill>
                  <a:srgbClr val="FFFFFF"/>
                </a:solidFill>
                <a:latin typeface="+mj-lt"/>
                <a:ea typeface="+mj-ea"/>
                <a:cs typeface="+mj-cs"/>
              </a:rPr>
              <a:t>Brainstorming Focus-</a:t>
            </a:r>
            <a:br>
              <a:rPr lang="en-US" sz="3400" b="1" kern="1200">
                <a:solidFill>
                  <a:srgbClr val="FFFFFF"/>
                </a:solidFill>
                <a:latin typeface="+mj-lt"/>
                <a:ea typeface="+mj-ea"/>
                <a:cs typeface="+mj-cs"/>
              </a:rPr>
            </a:br>
            <a:endParaRPr lang="en-US" sz="34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B70E2E54-70B8-7CC3-24BF-1CB514BD652B}"/>
              </a:ext>
            </a:extLst>
          </p:cNvPr>
          <p:cNvSpPr>
            <a:spLocks noGrp="1"/>
          </p:cNvSpPr>
          <p:nvPr>
            <p:ph idx="1"/>
          </p:nvPr>
        </p:nvSpPr>
        <p:spPr>
          <a:xfrm>
            <a:off x="4380856" y="1412488"/>
            <a:ext cx="3427283" cy="4363844"/>
          </a:xfrm>
        </p:spPr>
        <p:txBody>
          <a:bodyPr vert="horz" lIns="91440" tIns="45720" rIns="91440" bIns="45720" rtlCol="0" anchor="t">
            <a:noAutofit/>
          </a:bodyPr>
          <a:lstStyle/>
          <a:p>
            <a:r>
              <a:rPr lang="en-US" sz="2000"/>
              <a:t>Identify </a:t>
            </a:r>
            <a:r>
              <a:rPr lang="en-US" sz="2000" b="1"/>
              <a:t>complex diagrams in Science</a:t>
            </a:r>
            <a:r>
              <a:rPr lang="en-US" sz="2000"/>
              <a:t> that students struggle to interpret (e.g., human heart, electric circuits, cell structure).</a:t>
            </a:r>
          </a:p>
          <a:p>
            <a:r>
              <a:rPr lang="en-US" sz="2000"/>
              <a:t>Explore </a:t>
            </a:r>
            <a:r>
              <a:rPr lang="en-US" sz="2000" b="1"/>
              <a:t>how AI explanations and AR visualization</a:t>
            </a:r>
            <a:r>
              <a:rPr lang="en-US" sz="2000"/>
              <a:t> can make these diagrams interactive and easier to understand.</a:t>
            </a:r>
          </a:p>
          <a:p>
            <a:r>
              <a:rPr lang="en-US" sz="2000"/>
              <a:t>Discuss </a:t>
            </a:r>
            <a:r>
              <a:rPr lang="en-US" sz="2000" b="1"/>
              <a:t>learning challenges, opportunities, and innovative ideas</a:t>
            </a:r>
            <a:r>
              <a:rPr lang="en-US" sz="2000"/>
              <a:t> to enhance conceptual clarity.</a:t>
            </a:r>
          </a:p>
          <a:p>
            <a:endParaRPr lang="en-US" sz="1900"/>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094E240-A5DD-D6B6-5741-0955634A454D}"/>
              </a:ext>
            </a:extLst>
          </p:cNvPr>
          <p:cNvSpPr txBox="1"/>
          <p:nvPr/>
        </p:nvSpPr>
        <p:spPr>
          <a:xfrm>
            <a:off x="8451604" y="1412489"/>
            <a:ext cx="3197701" cy="436384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400" b="1"/>
              <a:t>Tools Used-</a:t>
            </a:r>
          </a:p>
          <a:p>
            <a:pPr indent="-228600">
              <a:lnSpc>
                <a:spcPct val="90000"/>
              </a:lnSpc>
              <a:spcAft>
                <a:spcPts val="600"/>
              </a:spcAft>
              <a:buFont typeface="Arial" panose="020B0604020202020204" pitchFamily="34" charset="0"/>
              <a:buChar char="•"/>
            </a:pPr>
            <a:r>
              <a:rPr lang="en-US" sz="2400" b="1"/>
              <a:t>Group discussion / brainstorming sessions</a:t>
            </a:r>
            <a:r>
              <a:rPr lang="en-US" sz="2400"/>
              <a:t> among students and teachers.</a:t>
            </a:r>
          </a:p>
          <a:p>
            <a:pPr indent="-228600">
              <a:lnSpc>
                <a:spcPct val="90000"/>
              </a:lnSpc>
              <a:spcAft>
                <a:spcPts val="600"/>
              </a:spcAft>
              <a:buFont typeface="Arial" panose="020B0604020202020204" pitchFamily="34" charset="0"/>
              <a:buChar char="•"/>
            </a:pPr>
            <a:r>
              <a:rPr lang="en-US" sz="2400"/>
              <a:t>Stakeholders (students and teachers)</a:t>
            </a:r>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1044472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6772219-D16C-2184-36B1-261B49856D83}"/>
              </a:ext>
            </a:extLst>
          </p:cNvPr>
          <p:cNvSpPr txBox="1"/>
          <p:nvPr/>
        </p:nvSpPr>
        <p:spPr>
          <a:xfrm>
            <a:off x="123012" y="645470"/>
            <a:ext cx="5285176" cy="1265621"/>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Stage II – Idea Posting-</a:t>
            </a:r>
          </a:p>
        </p:txBody>
      </p:sp>
      <p:sp>
        <p:nvSpPr>
          <p:cNvPr id="3" name="Content Placeholder 2">
            <a:extLst>
              <a:ext uri="{FF2B5EF4-FFF2-40B4-BE49-F238E27FC236}">
                <a16:creationId xmlns:a16="http://schemas.microsoft.com/office/drawing/2014/main" id="{EAFC70BC-4B1F-D33C-4FFD-E765E7CADF2E}"/>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en-US"/>
              <a:t>Identify diagrams in science that students commonly find difficult (e.g., human heart, electric circuits, cell structure).</a:t>
            </a:r>
          </a:p>
          <a:p>
            <a:pPr marL="0"/>
            <a:endParaRPr lang="en-US" sz="2000"/>
          </a:p>
          <a:p>
            <a:pPr marL="0"/>
            <a:endParaRPr lang="en-US" sz="2000"/>
          </a:p>
        </p:txBody>
      </p:sp>
    </p:spTree>
    <p:extLst>
      <p:ext uri="{BB962C8B-B14F-4D97-AF65-F5344CB8AC3E}">
        <p14:creationId xmlns:p14="http://schemas.microsoft.com/office/powerpoint/2010/main" val="2020462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A145B2-11E1-512A-E454-AFB359602DB0}"/>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21" name="Rectangle 20">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2" name="Picture 1" descr="A diagram of problems with purple circles&#10;&#10;AI-generated content may be incorrect.">
            <a:extLst>
              <a:ext uri="{FF2B5EF4-FFF2-40B4-BE49-F238E27FC236}">
                <a16:creationId xmlns:a16="http://schemas.microsoft.com/office/drawing/2014/main" id="{DC820753-A28A-351C-B722-F82A6BB2A280}"/>
              </a:ext>
            </a:extLst>
          </p:cNvPr>
          <p:cNvPicPr>
            <a:picLocks noChangeAspect="1"/>
          </p:cNvPicPr>
          <p:nvPr/>
        </p:nvPicPr>
        <p:blipFill>
          <a:blip r:embed="rId2"/>
          <a:stretch>
            <a:fillRect/>
          </a:stretch>
        </p:blipFill>
        <p:spPr>
          <a:xfrm>
            <a:off x="-5147" y="-10297"/>
            <a:ext cx="12202295" cy="6878594"/>
          </a:xfrm>
          <a:prstGeom prst="rect">
            <a:avLst/>
          </a:prstGeom>
        </p:spPr>
      </p:pic>
    </p:spTree>
    <p:extLst>
      <p:ext uri="{BB962C8B-B14F-4D97-AF65-F5344CB8AC3E}">
        <p14:creationId xmlns:p14="http://schemas.microsoft.com/office/powerpoint/2010/main" val="2144808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3D3CF-61CE-C74E-C4E5-CF3BF00FD9F1}"/>
            </a:ext>
          </a:extLst>
        </p:cNvPr>
        <p:cNvGrpSpPr/>
        <p:nvPr/>
      </p:nvGrpSpPr>
      <p:grpSpPr>
        <a:xfrm>
          <a:off x="0" y="0"/>
          <a:ext cx="0" cy="0"/>
          <a:chOff x="0" y="0"/>
          <a:chExt cx="0" cy="0"/>
        </a:xfrm>
      </p:grpSpPr>
      <p:pic>
        <p:nvPicPr>
          <p:cNvPr id="3076" name="Picture 4" descr="Cell Structure - Biology Online Tutorial">
            <a:extLst>
              <a:ext uri="{FF2B5EF4-FFF2-40B4-BE49-F238E27FC236}">
                <a16:creationId xmlns:a16="http://schemas.microsoft.com/office/drawing/2014/main" id="{EE7CB65F-A406-AB6E-3C77-58CC97925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178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9C6A3-F97B-1AD5-CAF7-6BBC31388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AF772-2B13-4C99-C12E-784F080FF8F8}"/>
              </a:ext>
            </a:extLst>
          </p:cNvPr>
          <p:cNvSpPr>
            <a:spLocks noGrp="1"/>
          </p:cNvSpPr>
          <p:nvPr>
            <p:ph type="title"/>
          </p:nvPr>
        </p:nvSpPr>
        <p:spPr>
          <a:xfrm>
            <a:off x="304801" y="1431925"/>
            <a:ext cx="10515600" cy="1325563"/>
          </a:xfrm>
        </p:spPr>
        <p:txBody>
          <a:bodyPr/>
          <a:lstStyle/>
          <a:p>
            <a:r>
              <a:rPr lang="en-IN" b="1"/>
              <a:t>Empathize-</a:t>
            </a:r>
          </a:p>
        </p:txBody>
      </p:sp>
      <p:sp>
        <p:nvSpPr>
          <p:cNvPr id="3" name="Content Placeholder 2">
            <a:extLst>
              <a:ext uri="{FF2B5EF4-FFF2-40B4-BE49-F238E27FC236}">
                <a16:creationId xmlns:a16="http://schemas.microsoft.com/office/drawing/2014/main" id="{1C3EB7F6-8432-64C9-6991-B34705EE793B}"/>
              </a:ext>
            </a:extLst>
          </p:cNvPr>
          <p:cNvSpPr>
            <a:spLocks noGrp="1"/>
          </p:cNvSpPr>
          <p:nvPr>
            <p:ph idx="1"/>
          </p:nvPr>
        </p:nvSpPr>
        <p:spPr>
          <a:xfrm>
            <a:off x="304801" y="3099152"/>
            <a:ext cx="10515600" cy="3578389"/>
          </a:xfrm>
        </p:spPr>
        <p:txBody>
          <a:bodyPr vert="horz" lIns="91440" tIns="45720" rIns="91440" bIns="45720" rtlCol="0" anchor="t">
            <a:normAutofit/>
          </a:bodyPr>
          <a:lstStyle/>
          <a:p>
            <a:pPr marL="0" indent="0">
              <a:buNone/>
            </a:pPr>
            <a:r>
              <a:rPr lang="en-US"/>
              <a:t>Survey form (Questionnaire for Students and Teachers)-</a:t>
            </a:r>
          </a:p>
          <a:p>
            <a:pPr marL="0" indent="0">
              <a:buNone/>
            </a:pPr>
            <a:endParaRPr lang="en-US"/>
          </a:p>
          <a:p>
            <a:r>
              <a:rPr lang="en-US" err="1"/>
              <a:t>Ms</a:t>
            </a:r>
            <a:r>
              <a:rPr lang="en-US"/>
              <a:t> Form for Students-</a:t>
            </a:r>
          </a:p>
          <a:p>
            <a:pPr marL="0" indent="0">
              <a:buNone/>
            </a:pPr>
            <a:r>
              <a:rPr lang="en-US">
                <a:hlinkClick r:id="rId2"/>
              </a:rPr>
              <a:t>Students form</a:t>
            </a:r>
            <a:r>
              <a:rPr lang="en-US"/>
              <a:t> </a:t>
            </a:r>
          </a:p>
          <a:p>
            <a:endParaRPr lang="en-US"/>
          </a:p>
          <a:p>
            <a:r>
              <a:rPr lang="en-US" err="1"/>
              <a:t>Ms</a:t>
            </a:r>
            <a:r>
              <a:rPr lang="en-US"/>
              <a:t> Form for Teachers-</a:t>
            </a:r>
          </a:p>
          <a:p>
            <a:pPr marL="0" indent="0">
              <a:buNone/>
            </a:pPr>
            <a:r>
              <a:rPr lang="en-US">
                <a:hlinkClick r:id="rId3"/>
              </a:rPr>
              <a:t>Teachers form</a:t>
            </a:r>
            <a:r>
              <a:rPr lang="en-US"/>
              <a:t> </a:t>
            </a:r>
          </a:p>
          <a:p>
            <a:endParaRPr lang="en-US"/>
          </a:p>
          <a:p>
            <a:pPr marL="0" indent="0">
              <a:buNone/>
            </a:pPr>
            <a:endParaRPr lang="en-US"/>
          </a:p>
          <a:p>
            <a:endParaRPr lang="en-US"/>
          </a:p>
          <a:p>
            <a:pPr marL="0" indent="0">
              <a:buNone/>
            </a:pPr>
            <a:endParaRPr lang="en-IN"/>
          </a:p>
        </p:txBody>
      </p:sp>
      <p:sp>
        <p:nvSpPr>
          <p:cNvPr id="5" name="TextBox 4">
            <a:extLst>
              <a:ext uri="{FF2B5EF4-FFF2-40B4-BE49-F238E27FC236}">
                <a16:creationId xmlns:a16="http://schemas.microsoft.com/office/drawing/2014/main" id="{18990DC7-DC9D-AD12-77B2-6C7B66FA43FB}"/>
              </a:ext>
            </a:extLst>
          </p:cNvPr>
          <p:cNvSpPr txBox="1"/>
          <p:nvPr/>
        </p:nvSpPr>
        <p:spPr>
          <a:xfrm>
            <a:off x="304801" y="984757"/>
            <a:ext cx="6096000" cy="584775"/>
          </a:xfrm>
          <a:prstGeom prst="rect">
            <a:avLst/>
          </a:prstGeom>
          <a:noFill/>
        </p:spPr>
        <p:txBody>
          <a:bodyPr wrap="square">
            <a:spAutoFit/>
          </a:bodyPr>
          <a:lstStyle/>
          <a:p>
            <a:r>
              <a:rPr lang="en-US" sz="3200" b="1"/>
              <a:t>Stage III – </a:t>
            </a:r>
            <a:endParaRPr lang="en-IN" sz="3200" b="1"/>
          </a:p>
        </p:txBody>
      </p:sp>
      <p:sp>
        <p:nvSpPr>
          <p:cNvPr id="6" name="Title 1">
            <a:extLst>
              <a:ext uri="{FF2B5EF4-FFF2-40B4-BE49-F238E27FC236}">
                <a16:creationId xmlns:a16="http://schemas.microsoft.com/office/drawing/2014/main" id="{6C8DC342-C336-5BDF-740E-723F4EBDE565}"/>
              </a:ext>
            </a:extLst>
          </p:cNvPr>
          <p:cNvSpPr txBox="1">
            <a:spLocks/>
          </p:cNvSpPr>
          <p:nvPr/>
        </p:nvSpPr>
        <p:spPr>
          <a:xfrm>
            <a:off x="8469085" y="89355"/>
            <a:ext cx="3581402" cy="10330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t>Phase 2</a:t>
            </a:r>
            <a:endParaRPr lang="en-IN" b="1"/>
          </a:p>
        </p:txBody>
      </p:sp>
    </p:spTree>
    <p:extLst>
      <p:ext uri="{BB962C8B-B14F-4D97-AF65-F5344CB8AC3E}">
        <p14:creationId xmlns:p14="http://schemas.microsoft.com/office/powerpoint/2010/main" val="2187793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BA43-E437-7050-8ACD-55F221F36D1E}"/>
              </a:ext>
            </a:extLst>
          </p:cNvPr>
          <p:cNvSpPr>
            <a:spLocks noGrp="1"/>
          </p:cNvSpPr>
          <p:nvPr>
            <p:ph type="title"/>
          </p:nvPr>
        </p:nvSpPr>
        <p:spPr>
          <a:xfrm>
            <a:off x="283029" y="952954"/>
            <a:ext cx="10515600" cy="1325563"/>
          </a:xfrm>
        </p:spPr>
        <p:txBody>
          <a:bodyPr/>
          <a:lstStyle/>
          <a:p>
            <a:r>
              <a:rPr lang="en-US" b="1"/>
              <a:t>Define-</a:t>
            </a:r>
            <a:endParaRPr lang="en-IN" b="1"/>
          </a:p>
        </p:txBody>
      </p:sp>
      <p:sp>
        <p:nvSpPr>
          <p:cNvPr id="4" name="Rectangle 1">
            <a:extLst>
              <a:ext uri="{FF2B5EF4-FFF2-40B4-BE49-F238E27FC236}">
                <a16:creationId xmlns:a16="http://schemas.microsoft.com/office/drawing/2014/main" id="{A39899ED-B1A5-E84A-18A3-479EBEEE533F}"/>
              </a:ext>
            </a:extLst>
          </p:cNvPr>
          <p:cNvSpPr>
            <a:spLocks noGrp="1" noChangeArrowheads="1"/>
          </p:cNvSpPr>
          <p:nvPr>
            <p:ph idx="1"/>
          </p:nvPr>
        </p:nvSpPr>
        <p:spPr bwMode="auto">
          <a:xfrm>
            <a:off x="283029" y="2252760"/>
            <a:ext cx="1087482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a:ln>
                  <a:noFill/>
                </a:ln>
                <a:solidFill>
                  <a:schemeClr val="tx1"/>
                </a:solidFill>
                <a:effectLst/>
                <a:latin typeface="Arial" panose="020B0604020202020204" pitchFamily="34" charset="0"/>
              </a:rPr>
              <a:t>Define the problem: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1" u="none" strike="noStrike" cap="none" normalizeH="0" baseline="0">
                <a:ln>
                  <a:noFill/>
                </a:ln>
                <a:solidFill>
                  <a:schemeClr val="tx2"/>
                </a:solidFill>
                <a:effectLst/>
                <a:latin typeface="Arial"/>
                <a:cs typeface="Arial"/>
              </a:rPr>
              <a:t>How can we make complex diagrams easier to understand?</a:t>
            </a:r>
            <a:endParaRPr kumimoji="0" lang="en-US" altLang="en-US" b="1" i="0" u="none" strike="noStrike" cap="none" normalizeH="0" baseline="0">
              <a:ln>
                <a:noFill/>
              </a:ln>
              <a:solidFill>
                <a:schemeClr val="tx2"/>
              </a:solidFill>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134DB376-983D-9BB3-E7E0-6E3FF8F822D9}"/>
              </a:ext>
            </a:extLst>
          </p:cNvPr>
          <p:cNvSpPr>
            <a:spLocks noChangeArrowheads="1"/>
          </p:cNvSpPr>
          <p:nvPr/>
        </p:nvSpPr>
        <p:spPr bwMode="auto">
          <a:xfrm rot="10800000" flipV="1">
            <a:off x="283029" y="4109924"/>
            <a:ext cx="117674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a:ln>
                  <a:noFill/>
                </a:ln>
                <a:solidFill>
                  <a:schemeClr val="tx1"/>
                </a:solidFill>
                <a:effectLst/>
                <a:latin typeface="Arial" panose="020B0604020202020204" pitchFamily="34" charset="0"/>
              </a:rPr>
              <a:t>Do students find </a:t>
            </a:r>
            <a:r>
              <a:rPr kumimoji="0" lang="en-US" altLang="en-US" sz="2400" b="1" i="0" u="none" strike="noStrike" cap="none" normalizeH="0" baseline="0">
                <a:ln>
                  <a:noFill/>
                </a:ln>
                <a:solidFill>
                  <a:schemeClr val="tx1"/>
                </a:solidFill>
                <a:effectLst/>
                <a:latin typeface="Arial" panose="020B0604020202020204" pitchFamily="34" charset="0"/>
              </a:rPr>
              <a:t>complex science diagrams difficult to understand</a:t>
            </a:r>
            <a:r>
              <a:rPr kumimoji="0" lang="en-US" altLang="en-US" sz="2400" b="0" i="0" u="none" strike="noStrike" cap="none" normalizeH="0" baseline="0">
                <a:ln>
                  <a:noFill/>
                </a:ln>
                <a:solidFill>
                  <a:schemeClr val="tx1"/>
                </a:solidFill>
                <a:effectLst/>
                <a:latin typeface="Arial" panose="020B0604020202020204" pitchFamily="34" charset="0"/>
              </a:rPr>
              <a:t> from textbooks alone?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a:ln>
                  <a:noFill/>
                </a:ln>
                <a:solidFill>
                  <a:schemeClr val="tx1"/>
                </a:solidFill>
                <a:effectLst/>
                <a:latin typeface="Arial" panose="020B0604020202020204" pitchFamily="34" charset="0"/>
              </a:rPr>
              <a:t>Do </a:t>
            </a:r>
            <a:r>
              <a:rPr kumimoji="0" lang="en-US" altLang="en-US" sz="2400" b="1" i="0" u="none" strike="noStrike" cap="none" normalizeH="0" baseline="0">
                <a:ln>
                  <a:noFill/>
                </a:ln>
                <a:solidFill>
                  <a:schemeClr val="tx1"/>
                </a:solidFill>
                <a:effectLst/>
                <a:latin typeface="Arial" panose="020B0604020202020204" pitchFamily="34" charset="0"/>
              </a:rPr>
              <a:t>static 2D diagrams</a:t>
            </a:r>
            <a:r>
              <a:rPr kumimoji="0" lang="en-US" altLang="en-US" sz="2400" b="0" i="0" u="none" strike="noStrike" cap="none" normalizeH="0" baseline="0">
                <a:ln>
                  <a:noFill/>
                </a:ln>
                <a:solidFill>
                  <a:schemeClr val="tx1"/>
                </a:solidFill>
                <a:effectLst/>
                <a:latin typeface="Arial" panose="020B0604020202020204" pitchFamily="34" charset="0"/>
              </a:rPr>
              <a:t> make it hard to visualize how scientific processes actually work?</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a:ln>
                  <a:noFill/>
                </a:ln>
                <a:solidFill>
                  <a:schemeClr val="tx1"/>
                </a:solidFill>
                <a:effectLst/>
                <a:latin typeface="Arial" panose="020B0604020202020204" pitchFamily="34" charset="0"/>
              </a:rPr>
              <a:t>Do students struggle to </a:t>
            </a:r>
            <a:r>
              <a:rPr kumimoji="0" lang="en-US" altLang="en-US" sz="2400" b="1" i="0" u="none" strike="noStrike" cap="none" normalizeH="0" baseline="0">
                <a:ln>
                  <a:noFill/>
                </a:ln>
                <a:solidFill>
                  <a:schemeClr val="tx1"/>
                </a:solidFill>
                <a:effectLst/>
                <a:latin typeface="Arial" panose="020B0604020202020204" pitchFamily="34" charset="0"/>
              </a:rPr>
              <a:t>connect labels in diagrams with their functions or processes</a:t>
            </a:r>
            <a:r>
              <a:rPr kumimoji="0" lang="en-US" altLang="en-US" sz="2400" b="0" i="0" u="none" strike="noStrike" cap="none" normalizeH="0" baseline="0">
                <a:ln>
                  <a:noFill/>
                </a:ln>
                <a:solidFill>
                  <a:schemeClr val="tx1"/>
                </a:solidFill>
                <a:effectLst/>
                <a:latin typeface="Arial" panose="020B0604020202020204" pitchFamily="34" charset="0"/>
              </a:rPr>
              <a:t>?</a:t>
            </a:r>
          </a:p>
        </p:txBody>
      </p:sp>
      <p:sp>
        <p:nvSpPr>
          <p:cNvPr id="7" name="Title 1">
            <a:extLst>
              <a:ext uri="{FF2B5EF4-FFF2-40B4-BE49-F238E27FC236}">
                <a16:creationId xmlns:a16="http://schemas.microsoft.com/office/drawing/2014/main" id="{F3031127-FE4C-A841-495C-327153DB6DE0}"/>
              </a:ext>
            </a:extLst>
          </p:cNvPr>
          <p:cNvSpPr txBox="1">
            <a:spLocks/>
          </p:cNvSpPr>
          <p:nvPr/>
        </p:nvSpPr>
        <p:spPr>
          <a:xfrm>
            <a:off x="8469085" y="261257"/>
            <a:ext cx="3581402" cy="691697"/>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t>Phase 3</a:t>
            </a:r>
            <a:endParaRPr lang="en-IN" b="1"/>
          </a:p>
        </p:txBody>
      </p:sp>
      <p:sp>
        <p:nvSpPr>
          <p:cNvPr id="8" name="TextBox 7">
            <a:extLst>
              <a:ext uri="{FF2B5EF4-FFF2-40B4-BE49-F238E27FC236}">
                <a16:creationId xmlns:a16="http://schemas.microsoft.com/office/drawing/2014/main" id="{F6F4A395-A582-8108-B689-4ED4110A6855}"/>
              </a:ext>
            </a:extLst>
          </p:cNvPr>
          <p:cNvSpPr txBox="1"/>
          <p:nvPr/>
        </p:nvSpPr>
        <p:spPr>
          <a:xfrm>
            <a:off x="283029" y="660566"/>
            <a:ext cx="6096000" cy="584775"/>
          </a:xfrm>
          <a:prstGeom prst="rect">
            <a:avLst/>
          </a:prstGeom>
          <a:noFill/>
        </p:spPr>
        <p:txBody>
          <a:bodyPr wrap="square">
            <a:spAutoFit/>
          </a:bodyPr>
          <a:lstStyle/>
          <a:p>
            <a:r>
              <a:rPr lang="en-US" sz="3200" b="1"/>
              <a:t>Stage IV – </a:t>
            </a:r>
            <a:endParaRPr lang="en-IN" sz="3200" b="1"/>
          </a:p>
        </p:txBody>
      </p:sp>
    </p:spTree>
    <p:extLst>
      <p:ext uri="{BB962C8B-B14F-4D97-AF65-F5344CB8AC3E}">
        <p14:creationId xmlns:p14="http://schemas.microsoft.com/office/powerpoint/2010/main" val="869532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le 15">
            <a:extLst>
              <a:ext uri="{FF2B5EF4-FFF2-40B4-BE49-F238E27FC236}">
                <a16:creationId xmlns:a16="http://schemas.microsoft.com/office/drawing/2014/main" id="{B307B152-21D5-1F1E-CA52-44A199B00569}"/>
              </a:ext>
            </a:extLst>
          </p:cNvPr>
          <p:cNvGraphicFramePr>
            <a:graphicFrameLocks noGrp="1"/>
          </p:cNvGraphicFramePr>
          <p:nvPr>
            <p:extLst>
              <p:ext uri="{D42A27DB-BD31-4B8C-83A1-F6EECF244321}">
                <p14:modId xmlns:p14="http://schemas.microsoft.com/office/powerpoint/2010/main" val="825676579"/>
              </p:ext>
            </p:extLst>
          </p:nvPr>
        </p:nvGraphicFramePr>
        <p:xfrm>
          <a:off x="773723" y="1019907"/>
          <a:ext cx="10694849" cy="5177147"/>
        </p:xfrm>
        <a:graphic>
          <a:graphicData uri="http://schemas.openxmlformats.org/drawingml/2006/table">
            <a:tbl>
              <a:tblPr>
                <a:tableStyleId>{5940675A-B579-460E-94D1-54222C63F5DA}</a:tableStyleId>
              </a:tblPr>
              <a:tblGrid>
                <a:gridCol w="1863566">
                  <a:extLst>
                    <a:ext uri="{9D8B030D-6E8A-4147-A177-3AD203B41FA5}">
                      <a16:colId xmlns:a16="http://schemas.microsoft.com/office/drawing/2014/main" val="3827199380"/>
                    </a:ext>
                  </a:extLst>
                </a:gridCol>
                <a:gridCol w="1756693">
                  <a:extLst>
                    <a:ext uri="{9D8B030D-6E8A-4147-A177-3AD203B41FA5}">
                      <a16:colId xmlns:a16="http://schemas.microsoft.com/office/drawing/2014/main" val="1684173037"/>
                    </a:ext>
                  </a:extLst>
                </a:gridCol>
                <a:gridCol w="2296489">
                  <a:extLst>
                    <a:ext uri="{9D8B030D-6E8A-4147-A177-3AD203B41FA5}">
                      <a16:colId xmlns:a16="http://schemas.microsoft.com/office/drawing/2014/main" val="3260969544"/>
                    </a:ext>
                  </a:extLst>
                </a:gridCol>
                <a:gridCol w="4778101">
                  <a:extLst>
                    <a:ext uri="{9D8B030D-6E8A-4147-A177-3AD203B41FA5}">
                      <a16:colId xmlns:a16="http://schemas.microsoft.com/office/drawing/2014/main" val="2542434201"/>
                    </a:ext>
                  </a:extLst>
                </a:gridCol>
              </a:tblGrid>
              <a:tr h="1241302">
                <a:tc>
                  <a:txBody>
                    <a:bodyPr/>
                    <a:lstStyle/>
                    <a:p>
                      <a:pPr>
                        <a:buNone/>
                      </a:pPr>
                      <a:r>
                        <a:rPr lang="en-IN" sz="3300" b="1"/>
                        <a:t>Phase</a:t>
                      </a:r>
                    </a:p>
                  </a:txBody>
                  <a:tcPr marL="106840" marR="106840" marT="53420" marB="53420" anchor="ctr"/>
                </a:tc>
                <a:tc>
                  <a:txBody>
                    <a:bodyPr/>
                    <a:lstStyle/>
                    <a:p>
                      <a:pPr>
                        <a:buNone/>
                      </a:pPr>
                      <a:r>
                        <a:rPr lang="en-IN" sz="3300" b="1"/>
                        <a:t>Stage</a:t>
                      </a:r>
                    </a:p>
                  </a:txBody>
                  <a:tcPr marL="106840" marR="106840" marT="53420" marB="53420" anchor="ctr"/>
                </a:tc>
                <a:tc>
                  <a:txBody>
                    <a:bodyPr/>
                    <a:lstStyle/>
                    <a:p>
                      <a:pPr>
                        <a:buNone/>
                      </a:pPr>
                      <a:r>
                        <a:rPr lang="en-IN" sz="3300" b="1"/>
                        <a:t>Activity</a:t>
                      </a:r>
                    </a:p>
                  </a:txBody>
                  <a:tcPr marL="106840" marR="106840" marT="53420" marB="53420" anchor="ctr"/>
                </a:tc>
                <a:tc>
                  <a:txBody>
                    <a:bodyPr/>
                    <a:lstStyle/>
                    <a:p>
                      <a:pPr>
                        <a:buNone/>
                      </a:pPr>
                      <a:r>
                        <a:rPr lang="en-US" sz="3300" b="1"/>
                        <a:t>Application in the Capstone Project</a:t>
                      </a:r>
                    </a:p>
                  </a:txBody>
                  <a:tcPr marL="106840" marR="106840" marT="53420" marB="53420" anchor="ctr"/>
                </a:tc>
                <a:extLst>
                  <a:ext uri="{0D108BD9-81ED-4DB2-BD59-A6C34878D82A}">
                    <a16:rowId xmlns:a16="http://schemas.microsoft.com/office/drawing/2014/main" val="832381702"/>
                  </a:ext>
                </a:extLst>
              </a:tr>
              <a:tr h="3935845">
                <a:tc>
                  <a:txBody>
                    <a:bodyPr/>
                    <a:lstStyle/>
                    <a:p>
                      <a:pPr>
                        <a:buNone/>
                      </a:pPr>
                      <a:r>
                        <a:rPr lang="en-IN" sz="2100" b="1"/>
                        <a:t>Ideate</a:t>
                      </a:r>
                    </a:p>
                  </a:txBody>
                  <a:tcPr marL="106840" marR="106840" marT="53420" marB="53420" anchor="ctr"/>
                </a:tc>
                <a:tc>
                  <a:txBody>
                    <a:bodyPr/>
                    <a:lstStyle/>
                    <a:p>
                      <a:pPr>
                        <a:buNone/>
                      </a:pPr>
                      <a:r>
                        <a:rPr lang="en-IN" sz="2100" b="1"/>
                        <a:t>Stage V</a:t>
                      </a:r>
                    </a:p>
                  </a:txBody>
                  <a:tcPr marL="106840" marR="106840" marT="53420" marB="53420" anchor="ctr"/>
                </a:tc>
                <a:tc>
                  <a:txBody>
                    <a:bodyPr/>
                    <a:lstStyle/>
                    <a:p>
                      <a:pPr>
                        <a:buNone/>
                      </a:pPr>
                      <a:r>
                        <a:rPr lang="en-IN" sz="2100"/>
                        <a:t>Reflection (Mapping with requirements)</a:t>
                      </a:r>
                    </a:p>
                  </a:txBody>
                  <a:tcPr marL="106840" marR="106840" marT="53420" marB="53420" anchor="ctr"/>
                </a:tc>
                <a:tc>
                  <a:txBody>
                    <a:bodyPr/>
                    <a:lstStyle/>
                    <a:p>
                      <a:pPr>
                        <a:buNone/>
                      </a:pPr>
                      <a:r>
                        <a:rPr lang="en-US" sz="2100"/>
                        <a:t>Students </a:t>
                      </a:r>
                      <a:r>
                        <a:rPr lang="en-US" sz="2100" err="1"/>
                        <a:t>analyse</a:t>
                      </a:r>
                      <a:r>
                        <a:rPr lang="en-US" sz="2100"/>
                        <a:t> the challenges faced while understanding </a:t>
                      </a:r>
                      <a:r>
                        <a:rPr lang="en-US" sz="2100" b="1"/>
                        <a:t>complex diagrams</a:t>
                      </a:r>
                      <a:r>
                        <a:rPr lang="en-US" sz="2100"/>
                        <a:t> such as the human heart, electric circuits, and cell structure. They reflect on </a:t>
                      </a:r>
                      <a:r>
                        <a:rPr lang="en-US" sz="2100" b="1"/>
                        <a:t>how AI tools can simplify</a:t>
                      </a:r>
                      <a:r>
                        <a:rPr lang="en-US" sz="2100"/>
                        <a:t> explanations and how </a:t>
                      </a:r>
                      <a:r>
                        <a:rPr lang="en-US" sz="2100" b="1"/>
                        <a:t>AR</a:t>
                      </a:r>
                      <a:r>
                        <a:rPr lang="en-US" sz="2100"/>
                        <a:t> can help visualize diagrams in 3D. </a:t>
                      </a:r>
                      <a:r>
                        <a:rPr lang="en-US" sz="2100" b="1"/>
                        <a:t>Requirements</a:t>
                      </a:r>
                      <a:r>
                        <a:rPr lang="en-US" sz="2100"/>
                        <a:t> like digital devices, internet access, and suitable AI/AR tools are identified.</a:t>
                      </a:r>
                    </a:p>
                  </a:txBody>
                  <a:tcPr marL="106840" marR="106840" marT="53420" marB="53420" anchor="ctr"/>
                </a:tc>
                <a:extLst>
                  <a:ext uri="{0D108BD9-81ED-4DB2-BD59-A6C34878D82A}">
                    <a16:rowId xmlns:a16="http://schemas.microsoft.com/office/drawing/2014/main" val="3155000476"/>
                  </a:ext>
                </a:extLst>
              </a:tr>
            </a:tbl>
          </a:graphicData>
        </a:graphic>
      </p:graphicFrame>
    </p:spTree>
    <p:extLst>
      <p:ext uri="{BB962C8B-B14F-4D97-AF65-F5344CB8AC3E}">
        <p14:creationId xmlns:p14="http://schemas.microsoft.com/office/powerpoint/2010/main" val="2234741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985DC233-F8BD-B571-40A1-C7B543EE617C}"/>
              </a:ext>
            </a:extLst>
          </p:cNvPr>
          <p:cNvGraphicFramePr>
            <a:graphicFrameLocks noGrp="1"/>
          </p:cNvGraphicFramePr>
          <p:nvPr>
            <p:extLst>
              <p:ext uri="{D42A27DB-BD31-4B8C-83A1-F6EECF244321}">
                <p14:modId xmlns:p14="http://schemas.microsoft.com/office/powerpoint/2010/main" val="1839628334"/>
              </p:ext>
            </p:extLst>
          </p:nvPr>
        </p:nvGraphicFramePr>
        <p:xfrm>
          <a:off x="842221" y="643467"/>
          <a:ext cx="10507559" cy="5571066"/>
        </p:xfrm>
        <a:graphic>
          <a:graphicData uri="http://schemas.openxmlformats.org/drawingml/2006/table">
            <a:tbl>
              <a:tblPr>
                <a:solidFill>
                  <a:schemeClr val="bg1"/>
                </a:solidFill>
              </a:tblPr>
              <a:tblGrid>
                <a:gridCol w="1401449">
                  <a:extLst>
                    <a:ext uri="{9D8B030D-6E8A-4147-A177-3AD203B41FA5}">
                      <a16:colId xmlns:a16="http://schemas.microsoft.com/office/drawing/2014/main" val="1049823654"/>
                    </a:ext>
                  </a:extLst>
                </a:gridCol>
                <a:gridCol w="1728341">
                  <a:extLst>
                    <a:ext uri="{9D8B030D-6E8A-4147-A177-3AD203B41FA5}">
                      <a16:colId xmlns:a16="http://schemas.microsoft.com/office/drawing/2014/main" val="1109261592"/>
                    </a:ext>
                  </a:extLst>
                </a:gridCol>
                <a:gridCol w="3079603">
                  <a:extLst>
                    <a:ext uri="{9D8B030D-6E8A-4147-A177-3AD203B41FA5}">
                      <a16:colId xmlns:a16="http://schemas.microsoft.com/office/drawing/2014/main" val="872357015"/>
                    </a:ext>
                  </a:extLst>
                </a:gridCol>
                <a:gridCol w="4298166">
                  <a:extLst>
                    <a:ext uri="{9D8B030D-6E8A-4147-A177-3AD203B41FA5}">
                      <a16:colId xmlns:a16="http://schemas.microsoft.com/office/drawing/2014/main" val="943688151"/>
                    </a:ext>
                  </a:extLst>
                </a:gridCol>
              </a:tblGrid>
              <a:tr h="5571066">
                <a:tc>
                  <a:txBody>
                    <a:bodyPr/>
                    <a:lstStyle/>
                    <a:p>
                      <a:pPr>
                        <a:buNone/>
                      </a:pPr>
                      <a:r>
                        <a:rPr lang="en-IN" sz="2400" b="1" cap="none" spc="0">
                          <a:solidFill>
                            <a:schemeClr val="tx1"/>
                          </a:solidFill>
                        </a:rPr>
                        <a:t>Ideate</a:t>
                      </a:r>
                      <a:endParaRPr lang="en-IN" sz="2400" cap="none" spc="0">
                        <a:solidFill>
                          <a:schemeClr val="tx1"/>
                        </a:solidFill>
                      </a:endParaRPr>
                    </a:p>
                  </a:txBody>
                  <a:tcPr marL="204012" marR="143614" marT="156933" marB="15693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VI</a:t>
                      </a:r>
                      <a:endParaRPr lang="en-IN" sz="2400" cap="none" spc="0">
                        <a:solidFill>
                          <a:schemeClr val="tx1"/>
                        </a:solidFill>
                      </a:endParaRPr>
                    </a:p>
                  </a:txBody>
                  <a:tcPr marL="204012" marR="143614" marT="156933" marB="1569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cap="none" spc="0">
                          <a:solidFill>
                            <a:schemeClr val="tx1"/>
                          </a:solidFill>
                        </a:rPr>
                        <a:t>Design of Modules (Phased manner – Work force identification)</a:t>
                      </a:r>
                    </a:p>
                  </a:txBody>
                  <a:tcPr marL="204012" marR="143614" marT="156933" marB="1569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cap="none" spc="0">
                          <a:solidFill>
                            <a:schemeClr val="tx1"/>
                          </a:solidFill>
                        </a:rPr>
                        <a:t>Students divide the project into modules: </a:t>
                      </a:r>
                      <a:r>
                        <a:rPr lang="en-US" sz="2400" b="1" cap="none" spc="0">
                          <a:solidFill>
                            <a:schemeClr val="tx1"/>
                          </a:solidFill>
                        </a:rPr>
                        <a:t>Module 1 – Identification of complex diagrams</a:t>
                      </a:r>
                      <a:r>
                        <a:rPr lang="en-US" sz="2400" cap="none" spc="0">
                          <a:solidFill>
                            <a:schemeClr val="tx1"/>
                          </a:solidFill>
                        </a:rPr>
                        <a:t>, </a:t>
                      </a:r>
                      <a:r>
                        <a:rPr lang="en-US" sz="2400" b="1" cap="none" spc="0">
                          <a:solidFill>
                            <a:schemeClr val="tx1"/>
                          </a:solidFill>
                        </a:rPr>
                        <a:t>Module 2 – AI-based explanation and labeling</a:t>
                      </a:r>
                      <a:r>
                        <a:rPr lang="en-US" sz="2400" cap="none" spc="0">
                          <a:solidFill>
                            <a:schemeClr val="tx1"/>
                          </a:solidFill>
                        </a:rPr>
                        <a:t>, </a:t>
                      </a:r>
                      <a:r>
                        <a:rPr lang="en-US" sz="2400" b="1" cap="none" spc="0">
                          <a:solidFill>
                            <a:schemeClr val="tx1"/>
                          </a:solidFill>
                        </a:rPr>
                        <a:t>Module 3 – AR visualization of diagrams</a:t>
                      </a:r>
                      <a:r>
                        <a:rPr lang="en-US" sz="2400" cap="none" spc="0">
                          <a:solidFill>
                            <a:schemeClr val="tx1"/>
                          </a:solidFill>
                        </a:rPr>
                        <a:t>, </a:t>
                      </a:r>
                      <a:r>
                        <a:rPr lang="en-US" sz="2400" b="1" cap="none" spc="0">
                          <a:solidFill>
                            <a:schemeClr val="tx1"/>
                          </a:solidFill>
                        </a:rPr>
                        <a:t>Module 4 – Interactive learning and quiz creation</a:t>
                      </a:r>
                      <a:r>
                        <a:rPr lang="en-US" sz="2400" cap="none" spc="0">
                          <a:solidFill>
                            <a:schemeClr val="tx1"/>
                          </a:solidFill>
                        </a:rPr>
                        <a:t>. Teams are formed such as </a:t>
                      </a:r>
                      <a:r>
                        <a:rPr lang="en-US" sz="2400" b="1" cap="none" spc="0">
                          <a:solidFill>
                            <a:schemeClr val="tx1"/>
                          </a:solidFill>
                        </a:rPr>
                        <a:t>Research Team, Technology Team, Design Team, and Presentation Team</a:t>
                      </a:r>
                      <a:r>
                        <a:rPr lang="en-US" sz="2400" cap="none" spc="0">
                          <a:solidFill>
                            <a:schemeClr val="tx1"/>
                          </a:solidFill>
                        </a:rPr>
                        <a:t>.</a:t>
                      </a:r>
                    </a:p>
                  </a:txBody>
                  <a:tcPr marL="204012" marR="143614" marT="156933" marB="15693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2675644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99FE3B-5D2E-41D6-2A27-ADF52FFCAC78}"/>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7215340C-F8AC-4570-5749-A3B1EF9A0979}"/>
              </a:ext>
            </a:extLst>
          </p:cNvPr>
          <p:cNvGraphicFramePr>
            <a:graphicFrameLocks noGrp="1"/>
          </p:cNvGraphicFramePr>
          <p:nvPr>
            <p:extLst>
              <p:ext uri="{D42A27DB-BD31-4B8C-83A1-F6EECF244321}">
                <p14:modId xmlns:p14="http://schemas.microsoft.com/office/powerpoint/2010/main" val="3342399055"/>
              </p:ext>
            </p:extLst>
          </p:nvPr>
        </p:nvGraphicFramePr>
        <p:xfrm>
          <a:off x="643467" y="707812"/>
          <a:ext cx="10905068" cy="5442376"/>
        </p:xfrm>
        <a:graphic>
          <a:graphicData uri="http://schemas.openxmlformats.org/drawingml/2006/table">
            <a:tbl>
              <a:tblPr>
                <a:solidFill>
                  <a:schemeClr val="bg1"/>
                </a:solidFill>
              </a:tblPr>
              <a:tblGrid>
                <a:gridCol w="1713013">
                  <a:extLst>
                    <a:ext uri="{9D8B030D-6E8A-4147-A177-3AD203B41FA5}">
                      <a16:colId xmlns:a16="http://schemas.microsoft.com/office/drawing/2014/main" val="1049823654"/>
                    </a:ext>
                  </a:extLst>
                </a:gridCol>
                <a:gridCol w="1649715">
                  <a:extLst>
                    <a:ext uri="{9D8B030D-6E8A-4147-A177-3AD203B41FA5}">
                      <a16:colId xmlns:a16="http://schemas.microsoft.com/office/drawing/2014/main" val="1109261592"/>
                    </a:ext>
                  </a:extLst>
                </a:gridCol>
                <a:gridCol w="2749509">
                  <a:extLst>
                    <a:ext uri="{9D8B030D-6E8A-4147-A177-3AD203B41FA5}">
                      <a16:colId xmlns:a16="http://schemas.microsoft.com/office/drawing/2014/main" val="872357015"/>
                    </a:ext>
                  </a:extLst>
                </a:gridCol>
                <a:gridCol w="4792831">
                  <a:extLst>
                    <a:ext uri="{9D8B030D-6E8A-4147-A177-3AD203B41FA5}">
                      <a16:colId xmlns:a16="http://schemas.microsoft.com/office/drawing/2014/main" val="943688151"/>
                    </a:ext>
                  </a:extLst>
                </a:gridCol>
              </a:tblGrid>
              <a:tr h="5442376">
                <a:tc>
                  <a:txBody>
                    <a:bodyPr/>
                    <a:lstStyle/>
                    <a:p>
                      <a:pPr>
                        <a:buNone/>
                      </a:pPr>
                      <a:r>
                        <a:rPr lang="en-IN" sz="3000" b="1" cap="none" spc="0">
                          <a:solidFill>
                            <a:schemeClr val="tx1"/>
                          </a:solidFill>
                        </a:rPr>
                        <a:t>Ideate</a:t>
                      </a:r>
                      <a:endParaRPr lang="en-IN" sz="3000" cap="none" spc="0">
                        <a:solidFill>
                          <a:schemeClr val="tx1"/>
                        </a:solidFill>
                      </a:endParaRPr>
                    </a:p>
                  </a:txBody>
                  <a:tcPr marL="249367" marR="175542" marT="191821" marB="191821"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000" b="1" cap="none" spc="0">
                          <a:solidFill>
                            <a:schemeClr val="tx1"/>
                          </a:solidFill>
                        </a:rPr>
                        <a:t>Stage VII</a:t>
                      </a:r>
                      <a:endParaRPr lang="en-IN" sz="3000" cap="none" spc="0">
                        <a:solidFill>
                          <a:schemeClr val="tx1"/>
                        </a:solidFill>
                      </a:endParaRPr>
                    </a:p>
                  </a:txBody>
                  <a:tcPr marL="249367" marR="175542" marT="191821" marB="19182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000"/>
                        <a:t>Resource Identification</a:t>
                      </a:r>
                      <a:endParaRPr lang="en-US" sz="3000" cap="none" spc="0">
                        <a:solidFill>
                          <a:schemeClr val="tx1"/>
                        </a:solidFill>
                      </a:endParaRPr>
                    </a:p>
                  </a:txBody>
                  <a:tcPr marL="249367" marR="175542" marT="191821" marB="19182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3000"/>
                        <a:t>Students identify required resources such as </a:t>
                      </a:r>
                      <a:r>
                        <a:rPr lang="en-US" sz="3000" b="1"/>
                        <a:t>AI tools for diagram explanation, AR applications for 3D visualization, digital devices (tablets/smartphones), internet connectivity, science textbooks, and teacher guidance</a:t>
                      </a:r>
                      <a:r>
                        <a:rPr lang="en-US" sz="3000"/>
                        <a:t>.</a:t>
                      </a:r>
                      <a:endParaRPr lang="en-US" sz="3000" cap="none" spc="0">
                        <a:solidFill>
                          <a:schemeClr val="tx1"/>
                        </a:solidFill>
                      </a:endParaRPr>
                    </a:p>
                  </a:txBody>
                  <a:tcPr marL="249367" marR="175542" marT="191821" marB="191821"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795579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8FCC4A-989E-F0F9-8C31-412DA96FE223}"/>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C4965A20-8BDB-37B6-A9F1-E4C05B3CF0C4}"/>
              </a:ext>
            </a:extLst>
          </p:cNvPr>
          <p:cNvGraphicFramePr>
            <a:graphicFrameLocks noGrp="1"/>
          </p:cNvGraphicFramePr>
          <p:nvPr>
            <p:extLst>
              <p:ext uri="{D42A27DB-BD31-4B8C-83A1-F6EECF244321}">
                <p14:modId xmlns:p14="http://schemas.microsoft.com/office/powerpoint/2010/main" val="1509648757"/>
              </p:ext>
            </p:extLst>
          </p:nvPr>
        </p:nvGraphicFramePr>
        <p:xfrm>
          <a:off x="761564" y="643467"/>
          <a:ext cx="10668874" cy="5589554"/>
        </p:xfrm>
        <a:graphic>
          <a:graphicData uri="http://schemas.openxmlformats.org/drawingml/2006/table">
            <a:tbl>
              <a:tblPr>
                <a:solidFill>
                  <a:schemeClr val="bg1"/>
                </a:solidFill>
              </a:tblPr>
              <a:tblGrid>
                <a:gridCol w="1753519">
                  <a:extLst>
                    <a:ext uri="{9D8B030D-6E8A-4147-A177-3AD203B41FA5}">
                      <a16:colId xmlns:a16="http://schemas.microsoft.com/office/drawing/2014/main" val="1049823654"/>
                    </a:ext>
                  </a:extLst>
                </a:gridCol>
                <a:gridCol w="1688725">
                  <a:extLst>
                    <a:ext uri="{9D8B030D-6E8A-4147-A177-3AD203B41FA5}">
                      <a16:colId xmlns:a16="http://schemas.microsoft.com/office/drawing/2014/main" val="1109261592"/>
                    </a:ext>
                  </a:extLst>
                </a:gridCol>
                <a:gridCol w="2146334">
                  <a:extLst>
                    <a:ext uri="{9D8B030D-6E8A-4147-A177-3AD203B41FA5}">
                      <a16:colId xmlns:a16="http://schemas.microsoft.com/office/drawing/2014/main" val="872357015"/>
                    </a:ext>
                  </a:extLst>
                </a:gridCol>
                <a:gridCol w="5080296">
                  <a:extLst>
                    <a:ext uri="{9D8B030D-6E8A-4147-A177-3AD203B41FA5}">
                      <a16:colId xmlns:a16="http://schemas.microsoft.com/office/drawing/2014/main" val="943688151"/>
                    </a:ext>
                  </a:extLst>
                </a:gridCol>
              </a:tblGrid>
              <a:tr h="5571066">
                <a:tc>
                  <a:txBody>
                    <a:bodyPr/>
                    <a:lstStyle/>
                    <a:p>
                      <a:pPr>
                        <a:buNone/>
                      </a:pPr>
                      <a:r>
                        <a:rPr lang="en-IN" sz="3100" b="1" cap="none" spc="0">
                          <a:solidFill>
                            <a:schemeClr val="tx1"/>
                          </a:solidFill>
                        </a:rPr>
                        <a:t>Ideate</a:t>
                      </a:r>
                      <a:endParaRPr lang="en-IN" sz="3100" cap="none" spc="0">
                        <a:solidFill>
                          <a:schemeClr val="tx1"/>
                        </a:solidFill>
                      </a:endParaRPr>
                    </a:p>
                  </a:txBody>
                  <a:tcPr marL="255264" marR="179693" marT="196357" marB="19635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b="1" cap="none" spc="0">
                          <a:solidFill>
                            <a:schemeClr val="tx1"/>
                          </a:solidFill>
                        </a:rPr>
                        <a:t>Stage VIII</a:t>
                      </a:r>
                      <a:endParaRPr lang="en-IN"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a:t>Planning</a:t>
                      </a:r>
                      <a:endParaRPr lang="en-US"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a:t>Students prepare a step-by-step implementation plan: </a:t>
                      </a:r>
                      <a:r>
                        <a:rPr lang="en-IN" sz="3100" b="1"/>
                        <a:t>select difficult diagrams → generate AI explanations → create AR-based models → design interactive activities → present the prototype</a:t>
                      </a:r>
                      <a:r>
                        <a:rPr lang="en-IN" sz="3100"/>
                        <a:t>. Timeline and responsibilities for each team are finalized.</a:t>
                      </a:r>
                      <a:endParaRPr lang="en-US"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15972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D4925C-1B3B-9302-07C8-3886341D380B}"/>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9CA8B5DF-A9BC-3A93-A18D-B8B88030747A}"/>
              </a:ext>
            </a:extLst>
          </p:cNvPr>
          <p:cNvGraphicFramePr>
            <a:graphicFrameLocks noGrp="1"/>
          </p:cNvGraphicFramePr>
          <p:nvPr>
            <p:extLst>
              <p:ext uri="{D42A27DB-BD31-4B8C-83A1-F6EECF244321}">
                <p14:modId xmlns:p14="http://schemas.microsoft.com/office/powerpoint/2010/main" val="667069727"/>
              </p:ext>
            </p:extLst>
          </p:nvPr>
        </p:nvGraphicFramePr>
        <p:xfrm>
          <a:off x="647162" y="643467"/>
          <a:ext cx="10897678" cy="5589554"/>
        </p:xfrm>
        <a:graphic>
          <a:graphicData uri="http://schemas.openxmlformats.org/drawingml/2006/table">
            <a:tbl>
              <a:tblPr>
                <a:solidFill>
                  <a:schemeClr val="bg1"/>
                </a:solidFill>
              </a:tblPr>
              <a:tblGrid>
                <a:gridCol w="1753519">
                  <a:extLst>
                    <a:ext uri="{9D8B030D-6E8A-4147-A177-3AD203B41FA5}">
                      <a16:colId xmlns:a16="http://schemas.microsoft.com/office/drawing/2014/main" val="1049823654"/>
                    </a:ext>
                  </a:extLst>
                </a:gridCol>
                <a:gridCol w="1688725">
                  <a:extLst>
                    <a:ext uri="{9D8B030D-6E8A-4147-A177-3AD203B41FA5}">
                      <a16:colId xmlns:a16="http://schemas.microsoft.com/office/drawing/2014/main" val="1109261592"/>
                    </a:ext>
                  </a:extLst>
                </a:gridCol>
                <a:gridCol w="2470305">
                  <a:extLst>
                    <a:ext uri="{9D8B030D-6E8A-4147-A177-3AD203B41FA5}">
                      <a16:colId xmlns:a16="http://schemas.microsoft.com/office/drawing/2014/main" val="872357015"/>
                    </a:ext>
                  </a:extLst>
                </a:gridCol>
                <a:gridCol w="4985129">
                  <a:extLst>
                    <a:ext uri="{9D8B030D-6E8A-4147-A177-3AD203B41FA5}">
                      <a16:colId xmlns:a16="http://schemas.microsoft.com/office/drawing/2014/main" val="943688151"/>
                    </a:ext>
                  </a:extLst>
                </a:gridCol>
              </a:tblGrid>
              <a:tr h="5571066">
                <a:tc>
                  <a:txBody>
                    <a:bodyPr/>
                    <a:lstStyle/>
                    <a:p>
                      <a:pPr>
                        <a:buNone/>
                      </a:pPr>
                      <a:r>
                        <a:rPr lang="en-IN" sz="3100" b="1" cap="none" spc="0">
                          <a:solidFill>
                            <a:schemeClr val="tx1"/>
                          </a:solidFill>
                        </a:rPr>
                        <a:t>Ideate</a:t>
                      </a:r>
                      <a:endParaRPr lang="en-IN" sz="3100" cap="none" spc="0">
                        <a:solidFill>
                          <a:schemeClr val="tx1"/>
                        </a:solidFill>
                      </a:endParaRPr>
                    </a:p>
                  </a:txBody>
                  <a:tcPr marL="255264" marR="179693" marT="196357" marB="19635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b="1" cap="none" spc="0">
                          <a:solidFill>
                            <a:schemeClr val="tx1"/>
                          </a:solidFill>
                        </a:rPr>
                        <a:t>Stage IX</a:t>
                      </a:r>
                      <a:endParaRPr lang="en-IN"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a:t>Re-Design</a:t>
                      </a:r>
                      <a:endParaRPr lang="en-US"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3100"/>
                        <a:t>Based on feedback from peers and teachers, students improve the model by </a:t>
                      </a:r>
                      <a:r>
                        <a:rPr lang="en-US" sz="3100" b="1"/>
                        <a:t>simplifying explanations, enhancing AR visualization, improving labeling, and adding interactive quizzes or animations</a:t>
                      </a:r>
                      <a:r>
                        <a:rPr lang="en-US" sz="3100"/>
                        <a:t> to make learning more engaging.</a:t>
                      </a:r>
                      <a:endParaRPr lang="en-US"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665800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2FD04-EA22-6392-4ACB-71CC8D483C5C}"/>
              </a:ext>
            </a:extLst>
          </p:cNvPr>
          <p:cNvSpPr>
            <a:spLocks noGrp="1"/>
          </p:cNvSpPr>
          <p:nvPr>
            <p:ph idx="1"/>
          </p:nvPr>
        </p:nvSpPr>
        <p:spPr/>
        <p:txBody>
          <a:bodyPr vert="horz" lIns="91440" tIns="45720" rIns="91440" bIns="45720" rtlCol="0" anchor="t">
            <a:normAutofit/>
          </a:bodyPr>
          <a:lstStyle/>
          <a:p>
            <a:pPr marL="0" indent="0" algn="ctr">
              <a:buNone/>
            </a:pPr>
            <a:r>
              <a:rPr lang="en-US" sz="4000" dirty="0">
                <a:ea typeface="+mn-lt"/>
                <a:cs typeface="+mn-lt"/>
              </a:rPr>
              <a:t>SCAMPER technique was used during the </a:t>
            </a:r>
            <a:r>
              <a:rPr lang="en-US" sz="4000" b="1" dirty="0">
                <a:ea typeface="+mn-lt"/>
                <a:cs typeface="+mn-lt"/>
              </a:rPr>
              <a:t>Ideate phase</a:t>
            </a:r>
            <a:r>
              <a:rPr lang="en-US" sz="4000" dirty="0">
                <a:ea typeface="+mn-lt"/>
                <a:cs typeface="+mn-lt"/>
              </a:rPr>
              <a:t> (Stage V, </a:t>
            </a:r>
            <a:r>
              <a:rPr lang="en-US" sz="4000">
                <a:ea typeface="+mn-lt"/>
                <a:cs typeface="+mn-lt"/>
              </a:rPr>
              <a:t>VI and IX) to</a:t>
            </a:r>
            <a:r>
              <a:rPr lang="en-US" sz="4000" dirty="0">
                <a:ea typeface="+mn-lt"/>
                <a:cs typeface="+mn-lt"/>
              </a:rPr>
              <a:t> generate innovative ideas for transforming traditional science diagrams into interactive AI- and AR-supported learning tools.</a:t>
            </a:r>
            <a:endParaRPr lang="en-US" sz="4000" dirty="0"/>
          </a:p>
        </p:txBody>
      </p:sp>
    </p:spTree>
    <p:extLst>
      <p:ext uri="{BB962C8B-B14F-4D97-AF65-F5344CB8AC3E}">
        <p14:creationId xmlns:p14="http://schemas.microsoft.com/office/powerpoint/2010/main" val="3883682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pic>
        <p:nvPicPr>
          <p:cNvPr id="4" name="Content Placeholder 3" descr="A diagram of a diagram&#10;&#10;AI-generated content may be incorrect.">
            <a:extLst>
              <a:ext uri="{FF2B5EF4-FFF2-40B4-BE49-F238E27FC236}">
                <a16:creationId xmlns:a16="http://schemas.microsoft.com/office/drawing/2014/main" id="{97FB3738-E63D-0F34-B55E-5EB958150FE1}"/>
              </a:ext>
            </a:extLst>
          </p:cNvPr>
          <p:cNvPicPr>
            <a:picLocks noGrp="1" noChangeAspect="1"/>
          </p:cNvPicPr>
          <p:nvPr>
            <p:ph idx="1"/>
          </p:nvPr>
        </p:nvPicPr>
        <p:blipFill>
          <a:blip r:embed="rId2"/>
          <a:stretch>
            <a:fillRect/>
          </a:stretch>
        </p:blipFill>
        <p:spPr>
          <a:xfrm>
            <a:off x="463827" y="246512"/>
            <a:ext cx="10778433" cy="6394173"/>
          </a:xfrm>
          <a:prstGeom prst="rect">
            <a:avLst/>
          </a:prstGeom>
        </p:spPr>
      </p:pic>
    </p:spTree>
    <p:extLst>
      <p:ext uri="{BB962C8B-B14F-4D97-AF65-F5344CB8AC3E}">
        <p14:creationId xmlns:p14="http://schemas.microsoft.com/office/powerpoint/2010/main" val="224490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34B114-C04D-BDA2-2A07-A5F64B0F703D}"/>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39F316C-07E1-9A9C-EC05-D2F4DBBE5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B7B44D05-65A0-3897-52D8-CAA4C92C8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6D2537D-DEAA-1E5E-8013-6C6EEC44C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EB72112-F5F5-75BE-F374-0594E271CC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0B5AB0E1-2FA3-0AAB-BCBB-E92623F53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7796A4FC-E2E4-3277-C6FE-B76E7C150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415C47E0-8A15-429D-3C84-510BC7745F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14D24A5D-A18C-856C-F7DB-511641B85388}"/>
              </a:ext>
            </a:extLst>
          </p:cNvPr>
          <p:cNvGraphicFramePr>
            <a:graphicFrameLocks noGrp="1"/>
          </p:cNvGraphicFramePr>
          <p:nvPr>
            <p:extLst>
              <p:ext uri="{D42A27DB-BD31-4B8C-83A1-F6EECF244321}">
                <p14:modId xmlns:p14="http://schemas.microsoft.com/office/powerpoint/2010/main" val="2769660557"/>
              </p:ext>
            </p:extLst>
          </p:nvPr>
        </p:nvGraphicFramePr>
        <p:xfrm>
          <a:off x="239487" y="288485"/>
          <a:ext cx="11800114" cy="6281029"/>
        </p:xfrm>
        <a:graphic>
          <a:graphicData uri="http://schemas.openxmlformats.org/drawingml/2006/table">
            <a:tbl>
              <a:tblPr>
                <a:solidFill>
                  <a:schemeClr val="bg1"/>
                </a:solidFill>
              </a:tblPr>
              <a:tblGrid>
                <a:gridCol w="1785256">
                  <a:extLst>
                    <a:ext uri="{9D8B030D-6E8A-4147-A177-3AD203B41FA5}">
                      <a16:colId xmlns:a16="http://schemas.microsoft.com/office/drawing/2014/main" val="1049823654"/>
                    </a:ext>
                  </a:extLst>
                </a:gridCol>
                <a:gridCol w="1534886">
                  <a:extLst>
                    <a:ext uri="{9D8B030D-6E8A-4147-A177-3AD203B41FA5}">
                      <a16:colId xmlns:a16="http://schemas.microsoft.com/office/drawing/2014/main" val="1109261592"/>
                    </a:ext>
                  </a:extLst>
                </a:gridCol>
                <a:gridCol w="3233057">
                  <a:extLst>
                    <a:ext uri="{9D8B030D-6E8A-4147-A177-3AD203B41FA5}">
                      <a16:colId xmlns:a16="http://schemas.microsoft.com/office/drawing/2014/main" val="872357015"/>
                    </a:ext>
                  </a:extLst>
                </a:gridCol>
                <a:gridCol w="5246915">
                  <a:extLst>
                    <a:ext uri="{9D8B030D-6E8A-4147-A177-3AD203B41FA5}">
                      <a16:colId xmlns:a16="http://schemas.microsoft.com/office/drawing/2014/main" val="943688151"/>
                    </a:ext>
                  </a:extLst>
                </a:gridCol>
              </a:tblGrid>
              <a:tr h="6281029">
                <a:tc>
                  <a:txBody>
                    <a:bodyPr/>
                    <a:lstStyle/>
                    <a:p>
                      <a:pPr>
                        <a:buNone/>
                      </a:pPr>
                      <a:r>
                        <a:rPr lang="en-IN" sz="2400" b="1"/>
                        <a:t>Prototype</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X</a:t>
                      </a:r>
                      <a:endParaRPr lang="en-IN"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Execution Framework (Modules)</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Students develop the project through structured modules: </a:t>
                      </a:r>
                      <a:r>
                        <a:rPr lang="en-US" sz="2400" b="1"/>
                        <a:t>Module 1 – Identification of complex diagrams (heart, cell structure, electric circuits)</a:t>
                      </a:r>
                      <a:r>
                        <a:rPr lang="en-US" sz="2400"/>
                        <a:t>, </a:t>
                      </a:r>
                      <a:r>
                        <a:rPr lang="en-US" sz="2400" b="1"/>
                        <a:t>Module 2 – AI-assisted explanation and labeling</a:t>
                      </a:r>
                      <a:r>
                        <a:rPr lang="en-US" sz="2400"/>
                        <a:t>, </a:t>
                      </a:r>
                      <a:r>
                        <a:rPr lang="en-US" sz="2400" b="1"/>
                        <a:t>Module 3 – AR-based 3D visualization of diagrams</a:t>
                      </a:r>
                      <a:r>
                        <a:rPr lang="en-US" sz="2400"/>
                        <a:t>, </a:t>
                      </a:r>
                      <a:r>
                        <a:rPr lang="en-US" sz="2400" b="1"/>
                        <a:t>Module 4 – Interactive learning activities such as quizzes and animations</a:t>
                      </a:r>
                      <a:r>
                        <a:rPr lang="en-US" sz="2400"/>
                        <a:t>.</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2851343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750ED1-CE14-9A2E-7B38-5A714E7CA3DE}"/>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5584A421-EF16-5F3E-6E23-E5EF91F0EA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062E0EC4-C87D-1C82-7BFA-983E238066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A868527-71D0-294C-0BA9-370A748FD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8699CFC-2D26-7D39-2A24-5E234EF6CD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F031C312-EE22-F3E9-079A-5974C6A5B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409041AF-B5D1-897D-12CA-3D2396F8B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A35E6354-E378-80E0-DB6D-C2EBCAFE1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10F85381-74B9-18FA-2E99-BFF405362858}"/>
              </a:ext>
            </a:extLst>
          </p:cNvPr>
          <p:cNvGraphicFramePr>
            <a:graphicFrameLocks noGrp="1"/>
          </p:cNvGraphicFramePr>
          <p:nvPr>
            <p:extLst>
              <p:ext uri="{D42A27DB-BD31-4B8C-83A1-F6EECF244321}">
                <p14:modId xmlns:p14="http://schemas.microsoft.com/office/powerpoint/2010/main" val="1448900555"/>
              </p:ext>
            </p:extLst>
          </p:nvPr>
        </p:nvGraphicFramePr>
        <p:xfrm>
          <a:off x="283029" y="288485"/>
          <a:ext cx="11756572" cy="6281029"/>
        </p:xfrm>
        <a:graphic>
          <a:graphicData uri="http://schemas.openxmlformats.org/drawingml/2006/table">
            <a:tbl>
              <a:tblPr>
                <a:solidFill>
                  <a:schemeClr val="bg1"/>
                </a:solidFill>
              </a:tblPr>
              <a:tblGrid>
                <a:gridCol w="1741714">
                  <a:extLst>
                    <a:ext uri="{9D8B030D-6E8A-4147-A177-3AD203B41FA5}">
                      <a16:colId xmlns:a16="http://schemas.microsoft.com/office/drawing/2014/main" val="1049823654"/>
                    </a:ext>
                  </a:extLst>
                </a:gridCol>
                <a:gridCol w="1534886">
                  <a:extLst>
                    <a:ext uri="{9D8B030D-6E8A-4147-A177-3AD203B41FA5}">
                      <a16:colId xmlns:a16="http://schemas.microsoft.com/office/drawing/2014/main" val="1109261592"/>
                    </a:ext>
                  </a:extLst>
                </a:gridCol>
                <a:gridCol w="3233057">
                  <a:extLst>
                    <a:ext uri="{9D8B030D-6E8A-4147-A177-3AD203B41FA5}">
                      <a16:colId xmlns:a16="http://schemas.microsoft.com/office/drawing/2014/main" val="872357015"/>
                    </a:ext>
                  </a:extLst>
                </a:gridCol>
                <a:gridCol w="5246915">
                  <a:extLst>
                    <a:ext uri="{9D8B030D-6E8A-4147-A177-3AD203B41FA5}">
                      <a16:colId xmlns:a16="http://schemas.microsoft.com/office/drawing/2014/main" val="943688151"/>
                    </a:ext>
                  </a:extLst>
                </a:gridCol>
              </a:tblGrid>
              <a:tr h="6281029">
                <a:tc>
                  <a:txBody>
                    <a:bodyPr/>
                    <a:lstStyle/>
                    <a:p>
                      <a:pPr>
                        <a:buNone/>
                      </a:pPr>
                      <a:r>
                        <a:rPr lang="en-IN" sz="2400" b="1"/>
                        <a:t>Prototype</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XI</a:t>
                      </a:r>
                      <a:endParaRPr lang="en-IN"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Micromodules (Focus)</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Each module is divided into smaller tasks: selecting diagrams, generating AI explanations, creating AR visualization, testing interactive elements, and preparing simplified explanations for peer learning.</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3672805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46CDED-D51A-497D-72B5-0A5190F06353}"/>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DE23820A-2BD6-5825-C25C-665253D4C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6830CDA1-9A04-AB43-539D-7173F171F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29D044E-4B77-E102-6BAB-90293C4DD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7C26CCC-246E-2A02-3DA4-C47BEB31C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B1D1AA38-AED9-48B9-D96F-4FC792D2D8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DADF33F3-0EE4-95D3-5128-B4E171903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2A45F77A-F764-D1C3-A6D0-FD47F73FF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1343C3B6-4A2D-312E-5346-DC53380DEAEA}"/>
              </a:ext>
            </a:extLst>
          </p:cNvPr>
          <p:cNvGraphicFramePr>
            <a:graphicFrameLocks noGrp="1"/>
          </p:cNvGraphicFramePr>
          <p:nvPr>
            <p:extLst>
              <p:ext uri="{D42A27DB-BD31-4B8C-83A1-F6EECF244321}">
                <p14:modId xmlns:p14="http://schemas.microsoft.com/office/powerpoint/2010/main" val="2194969273"/>
              </p:ext>
            </p:extLst>
          </p:nvPr>
        </p:nvGraphicFramePr>
        <p:xfrm>
          <a:off x="283029" y="288485"/>
          <a:ext cx="11756572" cy="6281029"/>
        </p:xfrm>
        <a:graphic>
          <a:graphicData uri="http://schemas.openxmlformats.org/drawingml/2006/table">
            <a:tbl>
              <a:tblPr>
                <a:solidFill>
                  <a:schemeClr val="bg1"/>
                </a:solidFill>
              </a:tblPr>
              <a:tblGrid>
                <a:gridCol w="1741714">
                  <a:extLst>
                    <a:ext uri="{9D8B030D-6E8A-4147-A177-3AD203B41FA5}">
                      <a16:colId xmlns:a16="http://schemas.microsoft.com/office/drawing/2014/main" val="1049823654"/>
                    </a:ext>
                  </a:extLst>
                </a:gridCol>
                <a:gridCol w="1534886">
                  <a:extLst>
                    <a:ext uri="{9D8B030D-6E8A-4147-A177-3AD203B41FA5}">
                      <a16:colId xmlns:a16="http://schemas.microsoft.com/office/drawing/2014/main" val="1109261592"/>
                    </a:ext>
                  </a:extLst>
                </a:gridCol>
                <a:gridCol w="3233057">
                  <a:extLst>
                    <a:ext uri="{9D8B030D-6E8A-4147-A177-3AD203B41FA5}">
                      <a16:colId xmlns:a16="http://schemas.microsoft.com/office/drawing/2014/main" val="872357015"/>
                    </a:ext>
                  </a:extLst>
                </a:gridCol>
                <a:gridCol w="5246915">
                  <a:extLst>
                    <a:ext uri="{9D8B030D-6E8A-4147-A177-3AD203B41FA5}">
                      <a16:colId xmlns:a16="http://schemas.microsoft.com/office/drawing/2014/main" val="943688151"/>
                    </a:ext>
                  </a:extLst>
                </a:gridCol>
              </a:tblGrid>
              <a:tr h="6281029">
                <a:tc>
                  <a:txBody>
                    <a:bodyPr/>
                    <a:lstStyle/>
                    <a:p>
                      <a:pPr>
                        <a:buNone/>
                      </a:pPr>
                      <a:r>
                        <a:rPr lang="en-IN" sz="2400" b="1"/>
                        <a:t>Prototype</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XII</a:t>
                      </a:r>
                      <a:endParaRPr lang="en-IN"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Execution Process Flow</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Step-by-step workflow: </a:t>
                      </a:r>
                      <a:r>
                        <a:rPr lang="en-US" sz="2400" b="1"/>
                        <a:t>Identify difficult diagrams → Use AI tools to simplify explanations → Convert diagrams into AR models → Create interactive learning content → Demonstrate the working prototype to peers and teachers.</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4281558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3BCF-8754-263C-639B-6AD8ED151880}"/>
              </a:ext>
            </a:extLst>
          </p:cNvPr>
          <p:cNvSpPr>
            <a:spLocks noGrp="1"/>
          </p:cNvSpPr>
          <p:nvPr>
            <p:ph type="title"/>
          </p:nvPr>
        </p:nvSpPr>
        <p:spPr/>
        <p:txBody>
          <a:bodyPr/>
          <a:lstStyle/>
          <a:p>
            <a:r>
              <a:rPr lang="en-US" b="1">
                <a:solidFill>
                  <a:schemeClr val="bg1"/>
                </a:solidFill>
              </a:rPr>
              <a:t>Prototype-</a:t>
            </a:r>
            <a:endParaRPr lang="en-IN">
              <a:solidFill>
                <a:schemeClr val="bg1"/>
              </a:solidFill>
            </a:endParaRPr>
          </a:p>
        </p:txBody>
      </p:sp>
      <p:sp>
        <p:nvSpPr>
          <p:cNvPr id="3" name="Content Placeholder 2">
            <a:extLst>
              <a:ext uri="{FF2B5EF4-FFF2-40B4-BE49-F238E27FC236}">
                <a16:creationId xmlns:a16="http://schemas.microsoft.com/office/drawing/2014/main" id="{BFC729C2-CA59-3CF0-FEB9-E611C7D6D34D}"/>
              </a:ext>
            </a:extLst>
          </p:cNvPr>
          <p:cNvSpPr>
            <a:spLocks noGrp="1"/>
          </p:cNvSpPr>
          <p:nvPr>
            <p:ph idx="1"/>
          </p:nvPr>
        </p:nvSpPr>
        <p:spPr/>
        <p:txBody>
          <a:bodyPr vert="horz" lIns="91440" tIns="45720" rIns="91440" bIns="45720" rtlCol="0" anchor="t">
            <a:normAutofit/>
          </a:bodyPr>
          <a:lstStyle/>
          <a:p>
            <a:r>
              <a:rPr lang="en-US">
                <a:solidFill>
                  <a:schemeClr val="bg1"/>
                </a:solidFill>
              </a:rPr>
              <a:t>Create interactive diagrams, 3D models, or AR overlays using digital tools.</a:t>
            </a:r>
          </a:p>
          <a:p>
            <a:r>
              <a:rPr lang="en-US">
                <a:solidFill>
                  <a:schemeClr val="bg1"/>
                </a:solidFill>
              </a:rPr>
              <a:t>AI app – Hologram in </a:t>
            </a:r>
            <a:r>
              <a:rPr lang="en-US" err="1">
                <a:solidFill>
                  <a:schemeClr val="bg1"/>
                </a:solidFill>
              </a:rPr>
              <a:t>Ipads</a:t>
            </a:r>
            <a:r>
              <a:rPr lang="en-US">
                <a:solidFill>
                  <a:schemeClr val="bg1"/>
                </a:solidFill>
              </a:rPr>
              <a:t> </a:t>
            </a:r>
          </a:p>
          <a:p>
            <a:r>
              <a:rPr lang="en-US">
                <a:solidFill>
                  <a:schemeClr val="bg1"/>
                </a:solidFill>
              </a:rPr>
              <a:t>AR tool VR glasses</a:t>
            </a:r>
          </a:p>
          <a:p>
            <a:r>
              <a:rPr lang="en-US">
                <a:solidFill>
                  <a:schemeClr val="bg1"/>
                </a:solidFill>
              </a:rPr>
              <a:t>3D - Classes</a:t>
            </a:r>
            <a:endParaRPr lang="en-IN">
              <a:solidFill>
                <a:schemeClr val="bg1"/>
              </a:solidFill>
            </a:endParaRPr>
          </a:p>
        </p:txBody>
      </p:sp>
      <p:sp>
        <p:nvSpPr>
          <p:cNvPr id="4" name="Title 1">
            <a:extLst>
              <a:ext uri="{FF2B5EF4-FFF2-40B4-BE49-F238E27FC236}">
                <a16:creationId xmlns:a16="http://schemas.microsoft.com/office/drawing/2014/main" id="{7D773F97-FC98-807C-B0AA-D82448A332BB}"/>
              </a:ext>
            </a:extLst>
          </p:cNvPr>
          <p:cNvSpPr txBox="1">
            <a:spLocks/>
          </p:cNvSpPr>
          <p:nvPr/>
        </p:nvSpPr>
        <p:spPr>
          <a:xfrm>
            <a:off x="8469085" y="89355"/>
            <a:ext cx="3581402" cy="10330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chemeClr val="bg1"/>
                </a:solidFill>
              </a:rPr>
              <a:t>Phase 5</a:t>
            </a:r>
            <a:endParaRPr lang="en-IN" b="1">
              <a:solidFill>
                <a:schemeClr val="bg1"/>
              </a:solidFill>
            </a:endParaRPr>
          </a:p>
        </p:txBody>
      </p:sp>
      <p:pic>
        <p:nvPicPr>
          <p:cNvPr id="6" name="Picture 5">
            <a:extLst>
              <a:ext uri="{FF2B5EF4-FFF2-40B4-BE49-F238E27FC236}">
                <a16:creationId xmlns:a16="http://schemas.microsoft.com/office/drawing/2014/main" id="{687AA421-85C6-1707-686D-7B4B584E6355}"/>
              </a:ext>
            </a:extLst>
          </p:cNvPr>
          <p:cNvPicPr>
            <a:picLocks noChangeAspect="1"/>
          </p:cNvPicPr>
          <p:nvPr/>
        </p:nvPicPr>
        <p:blipFill>
          <a:blip r:embed="rId2"/>
          <a:stretch>
            <a:fillRect/>
          </a:stretch>
        </p:blipFill>
        <p:spPr>
          <a:xfrm>
            <a:off x="5797447" y="4000592"/>
            <a:ext cx="1890058" cy="1815456"/>
          </a:xfrm>
          <a:prstGeom prst="rect">
            <a:avLst/>
          </a:prstGeom>
        </p:spPr>
      </p:pic>
      <p:pic>
        <p:nvPicPr>
          <p:cNvPr id="10" name="Picture 9">
            <a:extLst>
              <a:ext uri="{FF2B5EF4-FFF2-40B4-BE49-F238E27FC236}">
                <a16:creationId xmlns:a16="http://schemas.microsoft.com/office/drawing/2014/main" id="{D0FF6873-D7C1-FCB6-8AAC-52589A5D48CD}"/>
              </a:ext>
            </a:extLst>
          </p:cNvPr>
          <p:cNvPicPr>
            <a:picLocks noChangeAspect="1"/>
          </p:cNvPicPr>
          <p:nvPr/>
        </p:nvPicPr>
        <p:blipFill>
          <a:blip r:embed="rId3"/>
          <a:stretch>
            <a:fillRect/>
          </a:stretch>
        </p:blipFill>
        <p:spPr>
          <a:xfrm>
            <a:off x="7876192" y="2460264"/>
            <a:ext cx="4174294" cy="3144524"/>
          </a:xfrm>
          <a:prstGeom prst="rect">
            <a:avLst/>
          </a:prstGeom>
        </p:spPr>
      </p:pic>
    </p:spTree>
    <p:extLst>
      <p:ext uri="{BB962C8B-B14F-4D97-AF65-F5344CB8AC3E}">
        <p14:creationId xmlns:p14="http://schemas.microsoft.com/office/powerpoint/2010/main" val="2974025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D0039-F3E4-3744-1FD3-57D9106D3194}"/>
              </a:ext>
            </a:extLst>
          </p:cNvPr>
          <p:cNvSpPr>
            <a:spLocks noGrp="1"/>
          </p:cNvSpPr>
          <p:nvPr>
            <p:ph type="title"/>
          </p:nvPr>
        </p:nvSpPr>
        <p:spPr/>
        <p:txBody>
          <a:bodyPr/>
          <a:lstStyle/>
          <a:p>
            <a:r>
              <a:rPr lang="en-US" b="1"/>
              <a:t>Test</a:t>
            </a:r>
            <a:r>
              <a:rPr lang="en-US"/>
              <a:t> –</a:t>
            </a:r>
            <a:endParaRPr lang="en-IN"/>
          </a:p>
        </p:txBody>
      </p:sp>
      <p:sp>
        <p:nvSpPr>
          <p:cNvPr id="3" name="Content Placeholder 2">
            <a:extLst>
              <a:ext uri="{FF2B5EF4-FFF2-40B4-BE49-F238E27FC236}">
                <a16:creationId xmlns:a16="http://schemas.microsoft.com/office/drawing/2014/main" id="{BEBB0313-5189-E2FF-D14A-FAE0FFC32627}"/>
              </a:ext>
            </a:extLst>
          </p:cNvPr>
          <p:cNvSpPr>
            <a:spLocks noGrp="1"/>
          </p:cNvSpPr>
          <p:nvPr>
            <p:ph idx="1"/>
          </p:nvPr>
        </p:nvSpPr>
        <p:spPr/>
        <p:txBody>
          <a:bodyPr vert="horz" lIns="91440" tIns="45720" rIns="91440" bIns="45720" rtlCol="0" anchor="t">
            <a:normAutofit/>
          </a:bodyPr>
          <a:lstStyle/>
          <a:p>
            <a:r>
              <a:rPr lang="en-US"/>
              <a:t>Present the model to peers and gather feedback through </a:t>
            </a:r>
            <a:r>
              <a:rPr lang="en-US" err="1"/>
              <a:t>microsoft</a:t>
            </a:r>
            <a:r>
              <a:rPr lang="en-US"/>
              <a:t> forms (post assessment), </a:t>
            </a:r>
            <a:r>
              <a:rPr lang="en-US" err="1"/>
              <a:t>mentimeter</a:t>
            </a:r>
            <a:r>
              <a:rPr lang="en-US"/>
              <a:t> poll on clarity and usability.</a:t>
            </a:r>
            <a:endParaRPr lang="en-IN"/>
          </a:p>
        </p:txBody>
      </p:sp>
      <p:sp>
        <p:nvSpPr>
          <p:cNvPr id="4" name="Title 1">
            <a:extLst>
              <a:ext uri="{FF2B5EF4-FFF2-40B4-BE49-F238E27FC236}">
                <a16:creationId xmlns:a16="http://schemas.microsoft.com/office/drawing/2014/main" id="{C8CEC6BC-3D02-8ADE-4D94-01A84E6D6702}"/>
              </a:ext>
            </a:extLst>
          </p:cNvPr>
          <p:cNvSpPr txBox="1">
            <a:spLocks/>
          </p:cNvSpPr>
          <p:nvPr/>
        </p:nvSpPr>
        <p:spPr>
          <a:xfrm>
            <a:off x="8469085" y="89355"/>
            <a:ext cx="3581402" cy="10330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t>Phase 6</a:t>
            </a:r>
            <a:endParaRPr lang="en-IN" b="1"/>
          </a:p>
        </p:txBody>
      </p:sp>
    </p:spTree>
    <p:extLst>
      <p:ext uri="{BB962C8B-B14F-4D97-AF65-F5344CB8AC3E}">
        <p14:creationId xmlns:p14="http://schemas.microsoft.com/office/powerpoint/2010/main" val="3862443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B703FE-857D-D058-A865-E46A33E3823F}"/>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54C91FB1-9796-20EA-457E-203AED38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ED5F6BBD-28BA-0907-64D4-0EB21352A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FC00B99-4CDD-6DDD-94A7-1F88822DE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3CAE30F-D1ED-5C40-A31B-3E5F3325B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3D6AD3C-F313-78C7-8D92-B369A21350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07A3B7FA-515B-B369-6890-4EC2A69B8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79AADFA8-A4C4-A621-F7A5-82589CFCA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F7D3A3C3-12A1-5A23-9051-31DBBAAE10F4}"/>
              </a:ext>
            </a:extLst>
          </p:cNvPr>
          <p:cNvGraphicFramePr>
            <a:graphicFrameLocks noGrp="1"/>
          </p:cNvGraphicFramePr>
          <p:nvPr>
            <p:extLst>
              <p:ext uri="{D42A27DB-BD31-4B8C-83A1-F6EECF244321}">
                <p14:modId xmlns:p14="http://schemas.microsoft.com/office/powerpoint/2010/main" val="207890111"/>
              </p:ext>
            </p:extLst>
          </p:nvPr>
        </p:nvGraphicFramePr>
        <p:xfrm>
          <a:off x="283029" y="288485"/>
          <a:ext cx="11756571" cy="6281029"/>
        </p:xfrm>
        <a:graphic>
          <a:graphicData uri="http://schemas.openxmlformats.org/drawingml/2006/table">
            <a:tbl>
              <a:tblPr>
                <a:solidFill>
                  <a:schemeClr val="bg1"/>
                </a:solidFill>
              </a:tblPr>
              <a:tblGrid>
                <a:gridCol w="1885070">
                  <a:extLst>
                    <a:ext uri="{9D8B030D-6E8A-4147-A177-3AD203B41FA5}">
                      <a16:colId xmlns:a16="http://schemas.microsoft.com/office/drawing/2014/main" val="1049823654"/>
                    </a:ext>
                  </a:extLst>
                </a:gridCol>
                <a:gridCol w="1391529">
                  <a:extLst>
                    <a:ext uri="{9D8B030D-6E8A-4147-A177-3AD203B41FA5}">
                      <a16:colId xmlns:a16="http://schemas.microsoft.com/office/drawing/2014/main" val="1109261592"/>
                    </a:ext>
                  </a:extLst>
                </a:gridCol>
                <a:gridCol w="3233057">
                  <a:extLst>
                    <a:ext uri="{9D8B030D-6E8A-4147-A177-3AD203B41FA5}">
                      <a16:colId xmlns:a16="http://schemas.microsoft.com/office/drawing/2014/main" val="872357015"/>
                    </a:ext>
                  </a:extLst>
                </a:gridCol>
                <a:gridCol w="5246915">
                  <a:extLst>
                    <a:ext uri="{9D8B030D-6E8A-4147-A177-3AD203B41FA5}">
                      <a16:colId xmlns:a16="http://schemas.microsoft.com/office/drawing/2014/main" val="943688151"/>
                    </a:ext>
                  </a:extLst>
                </a:gridCol>
              </a:tblGrid>
              <a:tr h="6281029">
                <a:tc>
                  <a:txBody>
                    <a:bodyPr/>
                    <a:lstStyle/>
                    <a:p>
                      <a:pPr>
                        <a:buNone/>
                      </a:pPr>
                      <a:r>
                        <a:rPr lang="en-US" sz="2400" b="1" cap="none" spc="0">
                          <a:solidFill>
                            <a:schemeClr val="tx1"/>
                          </a:solidFill>
                        </a:rPr>
                        <a:t>V</a:t>
                      </a:r>
                      <a:r>
                        <a:rPr lang="en-IN" sz="2400" b="1" cap="none" spc="0" err="1">
                          <a:solidFill>
                            <a:schemeClr val="tx1"/>
                          </a:solidFill>
                        </a:rPr>
                        <a:t>alidation</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XIII</a:t>
                      </a:r>
                      <a:endParaRPr lang="en-IN"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Testing (Mapping the requirements)</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The prototype is tested by students and teachers to check whether </a:t>
                      </a:r>
                      <a:r>
                        <a:rPr lang="en-US" sz="2400" b="1"/>
                        <a:t>AI explanations are clear, AR models improve visualization, and students understand diagrams better</a:t>
                      </a:r>
                      <a:r>
                        <a:rPr lang="en-US" sz="2400"/>
                        <a:t>. Feedback is collected to measure improvement in conceptual clarity.</a:t>
                      </a:r>
                    </a:p>
                    <a:p>
                      <a:pPr lvl="0">
                        <a:buNone/>
                      </a:pPr>
                      <a:endParaRPr lang="en-US" sz="2400"/>
                    </a:p>
                    <a:p>
                      <a:pPr lvl="0">
                        <a:buNone/>
                      </a:pPr>
                      <a:r>
                        <a:rPr lang="en-US" sz="1400" b="0" i="0" u="none" strike="noStrike" noProof="0">
                          <a:latin typeface="Aptos"/>
                          <a:hlinkClick r:id="rId2"/>
                        </a:rPr>
                        <a:t>post assessment</a:t>
                      </a:r>
                      <a:endParaRPr lang="en-US" sz="1400" b="0" i="0" u="none" strike="noStrike" noProof="0">
                        <a:latin typeface="Aptos"/>
                      </a:endParaRPr>
                    </a:p>
                    <a:p>
                      <a:pPr lvl="0">
                        <a:buNone/>
                      </a:pPr>
                      <a:endParaRPr lang="en-US" sz="1400" b="0" i="0" u="none" strike="noStrike" noProof="0">
                        <a:latin typeface="Aptos"/>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3135085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DA0F11-2D17-F827-7E81-BE2756A98239}"/>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D8A00E2A-A008-3154-AC73-BBFF345B0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63965CF4-9740-596E-583A-A4611A857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38284E3-D81F-4FFD-2571-D30C9C96B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694196A-A561-A998-B582-F4B515BE5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07018792-1790-D8C1-7AC8-F928C6198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7A5FC1FB-E814-7E74-BE6D-8BF738B7D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1149B6A7-5522-E01D-4570-D8F386CEA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B08F9930-FFDE-2445-CE93-816A282E01F7}"/>
              </a:ext>
            </a:extLst>
          </p:cNvPr>
          <p:cNvGraphicFramePr>
            <a:graphicFrameLocks noGrp="1"/>
          </p:cNvGraphicFramePr>
          <p:nvPr>
            <p:extLst>
              <p:ext uri="{D42A27DB-BD31-4B8C-83A1-F6EECF244321}">
                <p14:modId xmlns:p14="http://schemas.microsoft.com/office/powerpoint/2010/main" val="2236191151"/>
              </p:ext>
            </p:extLst>
          </p:nvPr>
        </p:nvGraphicFramePr>
        <p:xfrm>
          <a:off x="283029" y="288485"/>
          <a:ext cx="11756572" cy="6281029"/>
        </p:xfrm>
        <a:graphic>
          <a:graphicData uri="http://schemas.openxmlformats.org/drawingml/2006/table">
            <a:tbl>
              <a:tblPr>
                <a:solidFill>
                  <a:schemeClr val="bg1"/>
                </a:solidFill>
              </a:tblPr>
              <a:tblGrid>
                <a:gridCol w="2481942">
                  <a:extLst>
                    <a:ext uri="{9D8B030D-6E8A-4147-A177-3AD203B41FA5}">
                      <a16:colId xmlns:a16="http://schemas.microsoft.com/office/drawing/2014/main" val="1049823654"/>
                    </a:ext>
                  </a:extLst>
                </a:gridCol>
                <a:gridCol w="1393372">
                  <a:extLst>
                    <a:ext uri="{9D8B030D-6E8A-4147-A177-3AD203B41FA5}">
                      <a16:colId xmlns:a16="http://schemas.microsoft.com/office/drawing/2014/main" val="1109261592"/>
                    </a:ext>
                  </a:extLst>
                </a:gridCol>
                <a:gridCol w="2275114">
                  <a:extLst>
                    <a:ext uri="{9D8B030D-6E8A-4147-A177-3AD203B41FA5}">
                      <a16:colId xmlns:a16="http://schemas.microsoft.com/office/drawing/2014/main" val="872357015"/>
                    </a:ext>
                  </a:extLst>
                </a:gridCol>
                <a:gridCol w="5606144">
                  <a:extLst>
                    <a:ext uri="{9D8B030D-6E8A-4147-A177-3AD203B41FA5}">
                      <a16:colId xmlns:a16="http://schemas.microsoft.com/office/drawing/2014/main" val="943688151"/>
                    </a:ext>
                  </a:extLst>
                </a:gridCol>
              </a:tblGrid>
              <a:tr h="6281029">
                <a:tc>
                  <a:txBody>
                    <a:bodyPr/>
                    <a:lstStyle/>
                    <a:p>
                      <a:pPr>
                        <a:buNone/>
                      </a:pPr>
                      <a:r>
                        <a:rPr lang="en-IN" sz="2400"/>
                        <a:t>Implementation</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a:t>Stage XIV</a:t>
                      </a:r>
                      <a:endParaRPr lang="en-IN" sz="2400" b="1"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Implement (Deployment)</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The AI–AR diagram learning model is introduced in classroom learning where students use the tool to explore complex diagrams interactively. Teachers integrate it during science lessons for improved engagement and understanding.</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497838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852A4F-40D4-7A99-58B6-F8C44D807DEA}"/>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D204AB3-2075-3B1C-0D3D-9EEBEC5901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B775B7F9-25B3-42F2-8DC5-924269D0A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D78CADE-079A-C727-2C3E-905C8D73A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D9930F3-BDC1-4ECD-5B1B-16025A434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1D8E67B5-4577-6512-A52A-BF21B8E40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CD01CC6A-746E-AD0F-9CE8-5AE2DF347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A720A122-5F11-DE20-4BE0-F846BC3D8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BE305C56-C776-1345-5CA6-1F13E66185CA}"/>
              </a:ext>
            </a:extLst>
          </p:cNvPr>
          <p:cNvGraphicFramePr>
            <a:graphicFrameLocks noGrp="1"/>
          </p:cNvGraphicFramePr>
          <p:nvPr>
            <p:extLst>
              <p:ext uri="{D42A27DB-BD31-4B8C-83A1-F6EECF244321}">
                <p14:modId xmlns:p14="http://schemas.microsoft.com/office/powerpoint/2010/main" val="4225928692"/>
              </p:ext>
            </p:extLst>
          </p:nvPr>
        </p:nvGraphicFramePr>
        <p:xfrm>
          <a:off x="283029" y="288485"/>
          <a:ext cx="11756572" cy="6281029"/>
        </p:xfrm>
        <a:graphic>
          <a:graphicData uri="http://schemas.openxmlformats.org/drawingml/2006/table">
            <a:tbl>
              <a:tblPr>
                <a:solidFill>
                  <a:schemeClr val="bg1"/>
                </a:solidFill>
              </a:tblPr>
              <a:tblGrid>
                <a:gridCol w="1981200">
                  <a:extLst>
                    <a:ext uri="{9D8B030D-6E8A-4147-A177-3AD203B41FA5}">
                      <a16:colId xmlns:a16="http://schemas.microsoft.com/office/drawing/2014/main" val="1049823654"/>
                    </a:ext>
                  </a:extLst>
                </a:gridCol>
                <a:gridCol w="1611085">
                  <a:extLst>
                    <a:ext uri="{9D8B030D-6E8A-4147-A177-3AD203B41FA5}">
                      <a16:colId xmlns:a16="http://schemas.microsoft.com/office/drawing/2014/main" val="1109261592"/>
                    </a:ext>
                  </a:extLst>
                </a:gridCol>
                <a:gridCol w="2558143">
                  <a:extLst>
                    <a:ext uri="{9D8B030D-6E8A-4147-A177-3AD203B41FA5}">
                      <a16:colId xmlns:a16="http://schemas.microsoft.com/office/drawing/2014/main" val="872357015"/>
                    </a:ext>
                  </a:extLst>
                </a:gridCol>
                <a:gridCol w="5606144">
                  <a:extLst>
                    <a:ext uri="{9D8B030D-6E8A-4147-A177-3AD203B41FA5}">
                      <a16:colId xmlns:a16="http://schemas.microsoft.com/office/drawing/2014/main" val="943688151"/>
                    </a:ext>
                  </a:extLst>
                </a:gridCol>
              </a:tblGrid>
              <a:tr h="6281029">
                <a:tc>
                  <a:txBody>
                    <a:bodyPr/>
                    <a:lstStyle/>
                    <a:p>
                      <a:pPr>
                        <a:buNone/>
                      </a:pPr>
                      <a:r>
                        <a:rPr lang="en-IN" sz="2400"/>
                        <a:t>Report</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a:t>Stage XV</a:t>
                      </a:r>
                      <a:endParaRPr lang="en-IN" sz="2400" b="1"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Retrospective</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Students reflect on the project outcomes, challenges faced, improvements made, and the impact of AI and AR on learning science diagrams. Final documentation includes </a:t>
                      </a:r>
                      <a:r>
                        <a:rPr lang="en-US" sz="2400" b="1"/>
                        <a:t>process steps, prototype demonstration, feedback analysis, and future improvements</a:t>
                      </a:r>
                      <a:r>
                        <a:rPr lang="en-US" sz="2400"/>
                        <a:t>.</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594400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8EE38C-7779-48E0-FF02-AD113B5A35DE}"/>
              </a:ext>
            </a:extLst>
          </p:cNvPr>
          <p:cNvSpPr>
            <a:spLocks noGrp="1"/>
          </p:cNvSpPr>
          <p:nvPr>
            <p:ph idx="1"/>
          </p:nvPr>
        </p:nvSpPr>
        <p:spPr/>
        <p:txBody>
          <a:bodyPr vert="horz" lIns="91440" tIns="45720" rIns="91440" bIns="45720" rtlCol="0" anchor="t">
            <a:normAutofit/>
          </a:bodyPr>
          <a:lstStyle/>
          <a:p>
            <a:pPr marL="0" indent="0" algn="ctr">
              <a:buNone/>
            </a:pPr>
            <a:r>
              <a:rPr lang="en-US" sz="9600"/>
              <a:t>Thank You</a:t>
            </a:r>
            <a:endParaRPr lang="en-US"/>
          </a:p>
        </p:txBody>
      </p:sp>
    </p:spTree>
    <p:extLst>
      <p:ext uri="{BB962C8B-B14F-4D97-AF65-F5344CB8AC3E}">
        <p14:creationId xmlns:p14="http://schemas.microsoft.com/office/powerpoint/2010/main" val="4075743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1726FC82D1AD4EBEFFC60FB9193DC2" ma:contentTypeVersion="40" ma:contentTypeDescription="Create a new document." ma:contentTypeScope="" ma:versionID="57029fdf6a5010eaaa1be5f0549bf566">
  <xsd:schema xmlns:xsd="http://www.w3.org/2001/XMLSchema" xmlns:xs="http://www.w3.org/2001/XMLSchema" xmlns:p="http://schemas.microsoft.com/office/2006/metadata/properties" xmlns:ns3="0a856b5e-443d-4f0c-8996-56e9f4b8e7c5" xmlns:ns4="afeb4e6e-779d-466e-aa76-a28d9a9198ea" targetNamespace="http://schemas.microsoft.com/office/2006/metadata/properties" ma:root="true" ma:fieldsID="f39198342f7a82c0ac73a19bc7442700" ns3:_="" ns4:_="">
    <xsd:import namespace="0a856b5e-443d-4f0c-8996-56e9f4b8e7c5"/>
    <xsd:import namespace="afeb4e6e-779d-466e-aa76-a28d9a9198ea"/>
    <xsd:element name="properties">
      <xsd:complexType>
        <xsd:sequence>
          <xsd:element name="documentManagement">
            <xsd:complexType>
              <xsd:all>
                <xsd:element ref="ns3:SharedWithUsers" minOccurs="0"/>
                <xsd:element ref="ns3:SharedWithDetails" minOccurs="0"/>
                <xsd:element ref="ns3:SharingHintHash"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element ref="ns4:MediaServiceMetadata" minOccurs="0"/>
                <xsd:element ref="ns4:MediaServiceFastMetadata" minOccurs="0"/>
                <xsd:element ref="ns4:Distribution_Groups" minOccurs="0"/>
                <xsd:element ref="ns4:LMS_Mappings"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Teams_Channel_Section_Location"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856b5e-443d-4f0c-8996-56e9f4b8e7c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feb4e6e-779d-466e-aa76-a28d9a9198ea" elementFormDefault="qualified">
    <xsd:import namespace="http://schemas.microsoft.com/office/2006/documentManagement/types"/>
    <xsd:import namespace="http://schemas.microsoft.com/office/infopath/2007/PartnerControls"/>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23" nillable="true" ma:displayName="Invited Teachers" ma:internalName="Invited_Teachers">
      <xsd:simpleType>
        <xsd:restriction base="dms:Note">
          <xsd:maxLength value="255"/>
        </xsd:restriction>
      </xsd:simpleType>
    </xsd:element>
    <xsd:element name="Invited_Students" ma:index="24" nillable="true" ma:displayName="Invited Students" ma:internalName="Invited_Students">
      <xsd:simpleType>
        <xsd:restriction base="dms:Note">
          <xsd:maxLength value="255"/>
        </xsd:restriction>
      </xsd:simpleType>
    </xsd:element>
    <xsd:element name="Self_Registration_Enabled" ma:index="25" nillable="true" ma:displayName="Self Registration Enabled" ma:internalName="Self_Registration_Enabled">
      <xsd:simpleType>
        <xsd:restriction base="dms:Boolean"/>
      </xsd:simpleType>
    </xsd:element>
    <xsd:element name="Has_Teacher_Only_SectionGroup" ma:index="26" nillable="true" ma:displayName="Has Teacher Only SectionGroup" ma:internalName="Has_Teacher_Only_SectionGroup">
      <xsd:simpleType>
        <xsd:restriction base="dms:Boolean"/>
      </xsd:simpleType>
    </xsd:element>
    <xsd:element name="Is_Collaboration_Space_Locked" ma:index="27" nillable="true" ma:displayName="Is Collaboration Space Locked" ma:internalName="Is_Collaboration_Space_Locked">
      <xsd:simpleType>
        <xsd:restriction base="dms:Boolean"/>
      </xsd:simpleType>
    </xsd:element>
    <xsd:element name="IsNotebookLocked" ma:index="28" nillable="true" ma:displayName="Is Notebook Locked" ma:internalName="IsNotebookLocked">
      <xsd:simpleType>
        <xsd:restriction base="dms:Boolean"/>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MediaServiceAutoKeyPoints" ma:index="33" nillable="true" ma:displayName="MediaServiceAutoKeyPoints" ma:hidden="true" ma:internalName="MediaServiceAutoKeyPoints" ma:readOnly="true">
      <xsd:simpleType>
        <xsd:restriction base="dms:Note"/>
      </xsd:simpleType>
    </xsd:element>
    <xsd:element name="MediaServiceKeyPoints" ma:index="34" nillable="true" ma:displayName="KeyPoints" ma:internalName="MediaServiceKeyPoints" ma:readOnly="true">
      <xsd:simpleType>
        <xsd:restriction base="dms:Note">
          <xsd:maxLength value="255"/>
        </xsd:restriction>
      </xsd:simpleType>
    </xsd:element>
    <xsd:element name="MediaServiceAutoTags" ma:index="35" nillable="true" ma:displayName="Tags" ma:internalName="MediaServiceAutoTags" ma:readOnly="true">
      <xsd:simpleType>
        <xsd:restriction base="dms:Text"/>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GenerationTime" ma:index="37" nillable="true" ma:displayName="MediaServiceGenerationTime" ma:hidden="true" ma:internalName="MediaServiceGenerationTime" ma:readOnly="true">
      <xsd:simpleType>
        <xsd:restriction base="dms:Text"/>
      </xsd:simpleType>
    </xsd:element>
    <xsd:element name="MediaServiceEventHashCode" ma:index="38" nillable="true" ma:displayName="MediaServiceEventHashCode" ma:hidden="true" ma:internalName="MediaServiceEventHashCode" ma:readOnly="true">
      <xsd:simpleType>
        <xsd:restriction base="dms:Text"/>
      </xsd:simpleType>
    </xsd:element>
    <xsd:element name="MediaServiceDateTaken" ma:index="39" nillable="true" ma:displayName="MediaServiceDateTaken" ma:hidden="true" ma:internalName="MediaServiceDateTaken" ma:readOnly="true">
      <xsd:simpleType>
        <xsd:restriction base="dms:Text"/>
      </xsd:simpleType>
    </xsd:element>
    <xsd:element name="MediaServiceLocation" ma:index="40" nillable="true" ma:displayName="Location" ma:internalName="MediaServiceLocation" ma:readOnly="true">
      <xsd:simpleType>
        <xsd:restriction base="dms:Text"/>
      </xsd:simpleType>
    </xsd:element>
    <xsd:element name="Teams_Channel_Section_Location" ma:index="41" nillable="true" ma:displayName="Teams Channel Section Location" ma:internalName="Teams_Channel_Section_Location">
      <xsd:simpleType>
        <xsd:restriction base="dms:Text"/>
      </xsd:simpleType>
    </xsd:element>
    <xsd:element name="MediaLengthInSeconds" ma:index="42" nillable="true" ma:displayName="Length (seconds)" ma:internalName="MediaLengthInSeconds" ma:readOnly="true">
      <xsd:simpleType>
        <xsd:restriction base="dms:Unknown"/>
      </xsd:simpleType>
    </xsd:element>
    <xsd:element name="_activity" ma:index="43" nillable="true" ma:displayName="_activity" ma:hidden="true" ma:internalName="_activity">
      <xsd:simpleType>
        <xsd:restriction base="dms:Note"/>
      </xsd:simpleType>
    </xsd:element>
    <xsd:element name="MediaServiceObjectDetectorVersions" ma:index="44" nillable="true" ma:displayName="MediaServiceObjectDetectorVersions" ma:hidden="true" ma:indexed="true" ma:internalName="MediaServiceObjectDetectorVersions" ma:readOnly="true">
      <xsd:simpleType>
        <xsd:restriction base="dms:Text"/>
      </xsd:simpleType>
    </xsd:element>
    <xsd:element name="MediaServiceSystemTags" ma:index="45" nillable="true" ma:displayName="MediaServiceSystemTags" ma:hidden="true" ma:internalName="MediaServiceSystemTags" ma:readOnly="true">
      <xsd:simpleType>
        <xsd:restriction base="dms:Note"/>
      </xsd:simpleType>
    </xsd:element>
    <xsd:element name="MediaServiceSearchProperties" ma:index="46" nillable="true" ma:displayName="MediaServiceSearchProperties" ma:hidden="true" ma:internalName="MediaServiceSearchProperties" ma:readOnly="true">
      <xsd:simpleType>
        <xsd:restriction base="dms:Note"/>
      </xsd:simpleType>
    </xsd:element>
    <xsd:element name="MediaServiceBillingMetadata" ma:index="4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eamsChannelId xmlns="afeb4e6e-779d-466e-aa76-a28d9a9198ea" xsi:nil="true"/>
    <_activity xmlns="afeb4e6e-779d-466e-aa76-a28d9a9198ea" xsi:nil="true"/>
    <CultureName xmlns="afeb4e6e-779d-466e-aa76-a28d9a9198ea" xsi:nil="true"/>
    <Owner xmlns="afeb4e6e-779d-466e-aa76-a28d9a9198ea">
      <UserInfo>
        <DisplayName/>
        <AccountId xsi:nil="true"/>
        <AccountType/>
      </UserInfo>
    </Owner>
    <Students xmlns="afeb4e6e-779d-466e-aa76-a28d9a9198ea">
      <UserInfo>
        <DisplayName/>
        <AccountId xsi:nil="true"/>
        <AccountType/>
      </UserInfo>
    </Students>
    <Distribution_Groups xmlns="afeb4e6e-779d-466e-aa76-a28d9a9198ea" xsi:nil="true"/>
    <IsNotebookLocked xmlns="afeb4e6e-779d-466e-aa76-a28d9a9198ea" xsi:nil="true"/>
    <Has_Teacher_Only_SectionGroup xmlns="afeb4e6e-779d-466e-aa76-a28d9a9198ea" xsi:nil="true"/>
    <NotebookType xmlns="afeb4e6e-779d-466e-aa76-a28d9a9198ea" xsi:nil="true"/>
    <Invited_Teachers xmlns="afeb4e6e-779d-466e-aa76-a28d9a9198ea" xsi:nil="true"/>
    <AppVersion xmlns="afeb4e6e-779d-466e-aa76-a28d9a9198ea" xsi:nil="true"/>
    <Invited_Students xmlns="afeb4e6e-779d-466e-aa76-a28d9a9198ea" xsi:nil="true"/>
    <LMS_Mappings xmlns="afeb4e6e-779d-466e-aa76-a28d9a9198ea" xsi:nil="true"/>
    <DefaultSectionNames xmlns="afeb4e6e-779d-466e-aa76-a28d9a9198ea" xsi:nil="true"/>
    <Is_Collaboration_Space_Locked xmlns="afeb4e6e-779d-466e-aa76-a28d9a9198ea" xsi:nil="true"/>
    <Math_Settings xmlns="afeb4e6e-779d-466e-aa76-a28d9a9198ea" xsi:nil="true"/>
    <Self_Registration_Enabled xmlns="afeb4e6e-779d-466e-aa76-a28d9a9198ea" xsi:nil="true"/>
    <Teams_Channel_Section_Location xmlns="afeb4e6e-779d-466e-aa76-a28d9a9198ea" xsi:nil="true"/>
    <Templates xmlns="afeb4e6e-779d-466e-aa76-a28d9a9198ea" xsi:nil="true"/>
    <FolderType xmlns="afeb4e6e-779d-466e-aa76-a28d9a9198ea" xsi:nil="true"/>
    <Teachers xmlns="afeb4e6e-779d-466e-aa76-a28d9a9198ea">
      <UserInfo>
        <DisplayName/>
        <AccountId xsi:nil="true"/>
        <AccountType/>
      </UserInfo>
    </Teachers>
    <Student_Groups xmlns="afeb4e6e-779d-466e-aa76-a28d9a9198ea">
      <UserInfo>
        <DisplayName/>
        <AccountId xsi:nil="true"/>
        <AccountType/>
      </UserInfo>
    </Student_Groups>
  </documentManagement>
</p:properties>
</file>

<file path=customXml/itemProps1.xml><?xml version="1.0" encoding="utf-8"?>
<ds:datastoreItem xmlns:ds="http://schemas.openxmlformats.org/officeDocument/2006/customXml" ds:itemID="{C41EBE52-3E01-46AC-AA05-3ACC32C19013}">
  <ds:schemaRefs>
    <ds:schemaRef ds:uri="http://schemas.microsoft.com/office/2006/metadata/contentType"/>
    <ds:schemaRef ds:uri="http://schemas.microsoft.com/office/2006/metadata/properties/metaAttributes"/>
    <ds:schemaRef ds:uri="http://www.w3.org/2000/xmlns/"/>
    <ds:schemaRef ds:uri="http://www.w3.org/2001/XMLSchema"/>
    <ds:schemaRef ds:uri="0a856b5e-443d-4f0c-8996-56e9f4b8e7c5"/>
    <ds:schemaRef ds:uri="afeb4e6e-779d-466e-aa76-a28d9a9198ea"/>
  </ds:schemaRefs>
</ds:datastoreItem>
</file>

<file path=customXml/itemProps2.xml><?xml version="1.0" encoding="utf-8"?>
<ds:datastoreItem xmlns:ds="http://schemas.openxmlformats.org/officeDocument/2006/customXml" ds:itemID="{8C809DF2-834B-4126-AC52-0F6A0BB30EC9}">
  <ds:schemaRefs>
    <ds:schemaRef ds:uri="http://schemas.microsoft.com/sharepoint/v3/contenttype/forms"/>
  </ds:schemaRefs>
</ds:datastoreItem>
</file>

<file path=customXml/itemProps3.xml><?xml version="1.0" encoding="utf-8"?>
<ds:datastoreItem xmlns:ds="http://schemas.openxmlformats.org/officeDocument/2006/customXml" ds:itemID="{6EFF07F2-1A81-4F4A-9487-3C24407ECA92}">
  <ds:schemaRefs>
    <ds:schemaRef ds:uri="http://schemas.microsoft.com/office/2006/metadata/properties"/>
    <ds:schemaRef ds:uri="http://www.w3.org/2000/xmlns/"/>
    <ds:schemaRef ds:uri="afeb4e6e-779d-466e-aa76-a28d9a9198ea"/>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SCOPE</vt:lpstr>
      <vt:lpstr>Brainstorming Focus- </vt:lpstr>
      <vt:lpstr>PowerPoint Presentation</vt:lpstr>
      <vt:lpstr>PowerPoint Presentation</vt:lpstr>
      <vt:lpstr>PowerPoint Presentation</vt:lpstr>
      <vt:lpstr>Empathize-</vt:lpstr>
      <vt:lpstr>Define-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Prototype-</vt:lpstr>
      <vt:lpstr>Test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Nelofhar Khatik</dc:creator>
  <cp:lastModifiedBy>Bhushan Nikam</cp:lastModifiedBy>
  <cp:revision>96</cp:revision>
  <dcterms:created xsi:type="dcterms:W3CDTF">2026-03-10T05:10:01Z</dcterms:created>
  <dcterms:modified xsi:type="dcterms:W3CDTF">2026-03-11T06:51:12Z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0x010100811726FC82D1AD4EBEFFC60FB9193DC2</vt:lpwstr>
  </property>
</Properties>
</file>